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6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21" d="100"/>
          <a:sy n="121" d="100"/>
        </p:scale>
        <p:origin x="160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2359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660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588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25282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3292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292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918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4097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5325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148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90631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190302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12208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 für 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9037626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hr oder Fals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7209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02916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695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2649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  <p:sldLayoutId id="2147483705" r:id="rId12"/>
    <p:sldLayoutId id="2147483706" r:id="rId13"/>
    <p:sldLayoutId id="2147483707" r:id="rId14"/>
    <p:sldLayoutId id="2147483708" r:id="rId15"/>
    <p:sldLayoutId id="2147483709" r:id="rId16"/>
    <p:sldLayoutId id="2147483710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32588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0">
                <a:latin typeface="Aptos"/>
              </a:defRPr>
            </a:pPr>
            <a:r>
              <a:t>Mealie Testprojekt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latin typeface="Aptos"/>
              </a:defRPr>
            </a:pPr>
            <a:r>
              <a:t>Playwright Tests, Load Tests und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latin typeface="Aptos"/>
              </a:defRPr>
            </a:pPr>
            <a:r>
              <a:t>Lukas · Patrick Boettger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835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0">
                <a:solidFill>
                  <a:srgbClr val="000000"/>
                </a:solidFill>
                <a:latin typeface="Aptos"/>
              </a:defRPr>
            </a:pPr>
            <a:r>
              <a:t>Projekt und Ziel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835640" cy="5303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  <a:latin typeface="Aptos"/>
              </a:defRPr>
            </a:pPr>
            <a:r>
              <a:rPr dirty="0" err="1"/>
              <a:t>Webanwendung</a:t>
            </a:r>
            <a:r>
              <a:rPr dirty="0"/>
              <a:t>: Mealie,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Rezept</a:t>
            </a:r>
            <a:r>
              <a:rPr dirty="0"/>
              <a:t>- und </a:t>
            </a:r>
            <a:r>
              <a:rPr dirty="0" err="1"/>
              <a:t>Essensplanungs</a:t>
            </a:r>
            <a:r>
              <a:rPr dirty="0"/>
              <a:t>-App.</a:t>
            </a:r>
            <a:endParaRPr lang="de-AT" dirty="0"/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  <a:latin typeface="Aptos"/>
              </a:defRPr>
            </a:pPr>
            <a:endParaRPr dirty="0"/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  <a:latin typeface="Aptos"/>
              </a:defRPr>
            </a:pPr>
            <a:r>
              <a:rPr dirty="0" err="1"/>
              <a:t>Getestet</a:t>
            </a:r>
            <a:r>
              <a:rPr dirty="0"/>
              <a:t> </a:t>
            </a:r>
            <a:r>
              <a:rPr dirty="0" err="1"/>
              <a:t>wurden</a:t>
            </a:r>
            <a:r>
              <a:rPr dirty="0"/>
              <a:t> </a:t>
            </a:r>
            <a:r>
              <a:rPr dirty="0" err="1"/>
              <a:t>vor</a:t>
            </a:r>
            <a:r>
              <a:rPr dirty="0"/>
              <a:t> </a:t>
            </a:r>
            <a:r>
              <a:rPr dirty="0" err="1"/>
              <a:t>allem</a:t>
            </a:r>
            <a:r>
              <a:rPr dirty="0"/>
              <a:t> Login, </a:t>
            </a:r>
            <a:r>
              <a:rPr dirty="0" err="1"/>
              <a:t>Rezeptanlage</a:t>
            </a:r>
            <a:r>
              <a:rPr dirty="0"/>
              <a:t>, </a:t>
            </a:r>
            <a:r>
              <a:rPr dirty="0" err="1"/>
              <a:t>Suche</a:t>
            </a:r>
            <a:r>
              <a:rPr dirty="0"/>
              <a:t>, </a:t>
            </a:r>
            <a:r>
              <a:rPr dirty="0" err="1"/>
              <a:t>Rezept</a:t>
            </a:r>
            <a:r>
              <a:rPr dirty="0"/>
              <a:t>-API und </a:t>
            </a:r>
            <a:r>
              <a:rPr dirty="0" err="1"/>
              <a:t>Rezeptliste</a:t>
            </a:r>
            <a:r>
              <a:rPr dirty="0"/>
              <a:t>.</a:t>
            </a:r>
            <a:endParaRPr lang="de-AT" dirty="0"/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  <a:latin typeface="Aptos"/>
              </a:defRPr>
            </a:pPr>
            <a:endParaRPr dirty="0"/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  <a:latin typeface="Aptos"/>
              </a:defRPr>
            </a:pPr>
            <a:r>
              <a:rPr dirty="0" err="1"/>
              <a:t>Ordner</a:t>
            </a:r>
            <a:r>
              <a:rPr dirty="0"/>
              <a:t>: playwright-tests/ </a:t>
            </a:r>
            <a:r>
              <a:rPr dirty="0" err="1"/>
              <a:t>mit</a:t>
            </a:r>
            <a:r>
              <a:rPr dirty="0"/>
              <a:t> </a:t>
            </a:r>
            <a:r>
              <a:rPr dirty="0" err="1"/>
              <a:t>getrennten</a:t>
            </a:r>
            <a:r>
              <a:rPr dirty="0"/>
              <a:t> Tests </a:t>
            </a:r>
            <a:r>
              <a:rPr dirty="0" err="1"/>
              <a:t>nach</a:t>
            </a:r>
            <a:r>
              <a:rPr dirty="0"/>
              <a:t> Person und </a:t>
            </a:r>
            <a:r>
              <a:rPr dirty="0" err="1"/>
              <a:t>Testart</a:t>
            </a:r>
            <a:r>
              <a:rPr dirty="0"/>
              <a:t>.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  <a:latin typeface="Aptos"/>
              </a:defRPr>
            </a:pPr>
            <a:endParaRPr lang="de-AT"/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  <a:latin typeface="Aptos"/>
              </a:defRPr>
            </a:pPr>
            <a:r>
              <a:t>Uns</a:t>
            </a:r>
            <a:r>
              <a:rPr dirty="0"/>
              <a:t> war </a:t>
            </a:r>
            <a:r>
              <a:rPr dirty="0" err="1"/>
              <a:t>wichtig</a:t>
            </a:r>
            <a:r>
              <a:rPr dirty="0"/>
              <a:t>: </a:t>
            </a:r>
            <a:r>
              <a:rPr dirty="0" err="1"/>
              <a:t>nicht</a:t>
            </a:r>
            <a:r>
              <a:rPr dirty="0"/>
              <a:t> </a:t>
            </a:r>
            <a:r>
              <a:rPr dirty="0" err="1"/>
              <a:t>nur</a:t>
            </a:r>
            <a:r>
              <a:rPr dirty="0"/>
              <a:t> „happy path“, </a:t>
            </a:r>
            <a:r>
              <a:rPr dirty="0" err="1"/>
              <a:t>sondern</a:t>
            </a:r>
            <a:r>
              <a:rPr dirty="0"/>
              <a:t> </a:t>
            </a:r>
            <a:r>
              <a:rPr dirty="0" err="1"/>
              <a:t>typische</a:t>
            </a:r>
            <a:r>
              <a:rPr dirty="0"/>
              <a:t> </a:t>
            </a:r>
            <a:r>
              <a:rPr dirty="0" err="1"/>
              <a:t>Risiken</a:t>
            </a:r>
            <a:r>
              <a:rPr dirty="0"/>
              <a:t> </a:t>
            </a:r>
            <a:r>
              <a:rPr dirty="0" err="1"/>
              <a:t>abdecken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835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0">
                <a:solidFill>
                  <a:srgbClr val="000000"/>
                </a:solidFill>
                <a:latin typeface="Aptos"/>
              </a:defRPr>
            </a:pPr>
            <a:r>
              <a:t>Testpyramide im Projekt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105808"/>
              </p:ext>
            </p:extLst>
          </p:nvPr>
        </p:nvGraphicFramePr>
        <p:xfrm>
          <a:off x="685799" y="1142999"/>
          <a:ext cx="10192410" cy="41699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87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87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8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87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9873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9873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899564"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Person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Unit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Integration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E2E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Load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Summe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71287">
                <a:tc>
                  <a:txBody>
                    <a:bodyPr/>
                    <a:lstStyle/>
                    <a:p>
                      <a:pPr algn="l">
                        <a:defRPr sz="16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Patrick Boettger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6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rPr dirty="0"/>
                        <a:t>12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99564">
                <a:tc>
                  <a:txBody>
                    <a:bodyPr/>
                    <a:lstStyle/>
                    <a:p>
                      <a:pPr algn="l">
                        <a:defRPr sz="16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Lukas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5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11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99564">
                <a:tc>
                  <a:txBody>
                    <a:bodyPr/>
                    <a:lstStyle/>
                    <a:p>
                      <a:pPr algn="l">
                        <a:defRPr sz="16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Gesamt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11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6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6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rPr dirty="0"/>
                        <a:t>23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835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0">
                <a:solidFill>
                  <a:srgbClr val="000000"/>
                </a:solidFill>
                <a:latin typeface="Aptos"/>
              </a:defRPr>
            </a:pPr>
            <a:r>
              <a:t>Testumgebung und Isolation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577840" cy="4297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000000"/>
                </a:solidFill>
                <a:latin typeface="Aptos"/>
              </a:defRPr>
            </a:pPr>
            <a:r>
              <a:rPr dirty="0"/>
              <a:t>Mealie </a:t>
            </a:r>
            <a:r>
              <a:rPr dirty="0" err="1"/>
              <a:t>läuft</a:t>
            </a:r>
            <a:r>
              <a:rPr dirty="0"/>
              <a:t> </a:t>
            </a:r>
            <a:r>
              <a:rPr dirty="0" err="1"/>
              <a:t>lokal</a:t>
            </a:r>
            <a:r>
              <a:rPr dirty="0"/>
              <a:t> und in CI </a:t>
            </a:r>
            <a:r>
              <a:rPr dirty="0" err="1"/>
              <a:t>über</a:t>
            </a:r>
            <a:r>
              <a:rPr dirty="0"/>
              <a:t> Docker Compose.</a:t>
            </a:r>
          </a:p>
          <a:p>
            <a:pPr>
              <a:spcAft>
                <a:spcPts val="600"/>
              </a:spcAft>
              <a:defRPr sz="1900">
                <a:solidFill>
                  <a:srgbClr val="000000"/>
                </a:solidFill>
                <a:latin typeface="Aptos"/>
              </a:defRPr>
            </a:pPr>
            <a:r>
              <a:rPr dirty="0"/>
              <a:t>Playwright </a:t>
            </a:r>
            <a:r>
              <a:rPr dirty="0" err="1"/>
              <a:t>nutzt</a:t>
            </a:r>
            <a:r>
              <a:rPr dirty="0"/>
              <a:t> </a:t>
            </a:r>
            <a:r>
              <a:rPr dirty="0" err="1"/>
              <a:t>als</a:t>
            </a:r>
            <a:r>
              <a:rPr dirty="0"/>
              <a:t> </a:t>
            </a:r>
            <a:r>
              <a:rPr dirty="0" err="1"/>
              <a:t>baseURL</a:t>
            </a:r>
            <a:r>
              <a:rPr dirty="0"/>
              <a:t> http://localhost:9091.</a:t>
            </a:r>
          </a:p>
          <a:p>
            <a:pPr>
              <a:spcAft>
                <a:spcPts val="600"/>
              </a:spcAft>
              <a:defRPr sz="1900">
                <a:solidFill>
                  <a:srgbClr val="000000"/>
                </a:solidFill>
                <a:latin typeface="Aptos"/>
              </a:defRPr>
            </a:pPr>
            <a:r>
              <a:rPr lang="de-AT" dirty="0"/>
              <a:t>Verwendet wurde nur </a:t>
            </a:r>
            <a:r>
              <a:rPr dirty="0"/>
              <a:t>Chromium</a:t>
            </a:r>
            <a:r>
              <a:rPr lang="de-AT" dirty="0"/>
              <a:t>, </a:t>
            </a:r>
            <a:r>
              <a:rPr dirty="0" err="1"/>
              <a:t>damit</a:t>
            </a:r>
            <a:r>
              <a:rPr dirty="0"/>
              <a:t> die Tests </a:t>
            </a:r>
            <a:r>
              <a:rPr lang="de-AT" dirty="0"/>
              <a:t>schneller laufen und die Pipeline kürzer ist.</a:t>
            </a:r>
            <a:endParaRPr dirty="0"/>
          </a:p>
          <a:p>
            <a:pPr>
              <a:spcAft>
                <a:spcPts val="600"/>
              </a:spcAft>
              <a:defRPr sz="1900">
                <a:solidFill>
                  <a:srgbClr val="000000"/>
                </a:solidFill>
                <a:latin typeface="Aptos"/>
              </a:defRPr>
            </a:pPr>
            <a:r>
              <a:rPr dirty="0"/>
              <a:t>workers: 1 </a:t>
            </a:r>
            <a:r>
              <a:rPr dirty="0" err="1"/>
              <a:t>reduziert</a:t>
            </a:r>
            <a:r>
              <a:rPr dirty="0"/>
              <a:t> </a:t>
            </a:r>
            <a:r>
              <a:rPr dirty="0" err="1"/>
              <a:t>Seiteneffekte</a:t>
            </a:r>
            <a:r>
              <a:rPr dirty="0"/>
              <a:t> </a:t>
            </a:r>
            <a:r>
              <a:rPr dirty="0" err="1"/>
              <a:t>bei</a:t>
            </a:r>
            <a:r>
              <a:rPr dirty="0"/>
              <a:t> UI-Tests.</a:t>
            </a:r>
          </a:p>
          <a:p>
            <a:pPr>
              <a:spcAft>
                <a:spcPts val="600"/>
              </a:spcAft>
              <a:defRPr sz="1900">
                <a:solidFill>
                  <a:srgbClr val="000000"/>
                </a:solidFill>
                <a:latin typeface="Aptos"/>
              </a:defRPr>
            </a:pPr>
            <a:r>
              <a:rPr dirty="0" err="1"/>
              <a:t>Rezeptnamen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</a:t>
            </a:r>
            <a:r>
              <a:rPr dirty="0" err="1"/>
              <a:t>Date.now</a:t>
            </a:r>
            <a:r>
              <a:rPr dirty="0"/>
              <a:t>() </a:t>
            </a:r>
            <a:r>
              <a:rPr dirty="0" err="1"/>
              <a:t>eindeutig</a:t>
            </a:r>
            <a:r>
              <a:rPr dirty="0"/>
              <a:t> </a:t>
            </a:r>
            <a:r>
              <a:rPr dirty="0" err="1"/>
              <a:t>gemacht</a:t>
            </a:r>
            <a:r>
              <a:rPr dirty="0"/>
              <a:t>, </a:t>
            </a:r>
            <a:r>
              <a:rPr dirty="0" err="1"/>
              <a:t>damit</a:t>
            </a:r>
            <a:r>
              <a:rPr dirty="0"/>
              <a:t> </a:t>
            </a:r>
            <a:r>
              <a:rPr dirty="0" err="1"/>
              <a:t>alte</a:t>
            </a:r>
            <a:r>
              <a:rPr dirty="0"/>
              <a:t> </a:t>
            </a:r>
            <a:r>
              <a:rPr dirty="0" err="1"/>
              <a:t>Testdaten</a:t>
            </a:r>
            <a:r>
              <a:rPr dirty="0"/>
              <a:t> </a:t>
            </a:r>
            <a:r>
              <a:rPr dirty="0" err="1"/>
              <a:t>weniger</a:t>
            </a:r>
            <a:r>
              <a:rPr dirty="0"/>
              <a:t> </a:t>
            </a:r>
            <a:r>
              <a:rPr dirty="0" err="1"/>
              <a:t>stören</a:t>
            </a:r>
            <a:r>
              <a:rPr dirty="0"/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46520" y="1143000"/>
            <a:ext cx="4983480" cy="1417320"/>
          </a:xfrm>
          <a:prstGeom prst="rect">
            <a:avLst/>
          </a:prstGeom>
          <a:solidFill>
            <a:srgbClr val="F5F5F5"/>
          </a:solidFill>
          <a:ln w="9525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9728" tIns="73152" rIns="109728" bIns="73152" rtlCol="0" anchor="ctr"/>
          <a:lstStyle/>
          <a:p>
            <a:pPr algn="ctr">
              <a:spcAft>
                <a:spcPts val="0"/>
              </a:spcAft>
              <a:defRPr sz="1400">
                <a:solidFill>
                  <a:srgbClr val="000000"/>
                </a:solidFill>
                <a:latin typeface="Consolas"/>
              </a:defRPr>
            </a:pPr>
            <a:r>
              <a:t>const recipeName =</a:t>
            </a:r>
          </a:p>
          <a:p>
            <a:pPr>
              <a:spcAft>
                <a:spcPts val="0"/>
              </a:spcAft>
              <a:defRPr sz="1400">
                <a:solidFill>
                  <a:srgbClr val="000000"/>
                </a:solidFill>
                <a:latin typeface="Consolas"/>
              </a:defRPr>
            </a:pPr>
            <a:r>
              <a:t>  `WAT4 Test Recipe ${Date.now()}`;</a:t>
            </a:r>
          </a:p>
          <a:p>
            <a:pPr>
              <a:spcAft>
                <a:spcPts val="0"/>
              </a:spcAft>
              <a:defRPr sz="1400">
                <a:solidFill>
                  <a:srgbClr val="000000"/>
                </a:solidFill>
                <a:latin typeface="Consolas"/>
              </a:defRPr>
            </a:pPr>
            <a:endParaRPr/>
          </a:p>
          <a:p>
            <a:pPr>
              <a:spcAft>
                <a:spcPts val="0"/>
              </a:spcAft>
              <a:defRPr sz="1400">
                <a:solidFill>
                  <a:srgbClr val="000000"/>
                </a:solidFill>
                <a:latin typeface="Consolas"/>
              </a:defRPr>
            </a:pPr>
            <a:r>
              <a:t>const TEST_EMAIL = 'test@example.com';</a:t>
            </a:r>
          </a:p>
          <a:p>
            <a:pPr>
              <a:spcAft>
                <a:spcPts val="0"/>
              </a:spcAft>
              <a:defRPr sz="1400">
                <a:solidFill>
                  <a:srgbClr val="000000"/>
                </a:solidFill>
                <a:latin typeface="Consolas"/>
              </a:defRPr>
            </a:pPr>
            <a:r>
              <a:t>const TEST_PASSWORD = 'Test1234!';</a:t>
            </a:r>
          </a:p>
        </p:txBody>
      </p:sp>
      <p:sp>
        <p:nvSpPr>
          <p:cNvPr id="5" name="Rectangle 4"/>
          <p:cNvSpPr/>
          <p:nvPr/>
        </p:nvSpPr>
        <p:spPr>
          <a:xfrm>
            <a:off x="6446520" y="2788920"/>
            <a:ext cx="4983480" cy="1371600"/>
          </a:xfrm>
          <a:prstGeom prst="rect">
            <a:avLst/>
          </a:prstGeom>
          <a:solidFill>
            <a:srgbClr val="F5F5F5"/>
          </a:solidFill>
          <a:ln w="9525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9728" tIns="73152" rIns="109728" bIns="73152" rtlCol="0" anchor="ctr"/>
          <a:lstStyle/>
          <a:p>
            <a:pPr algn="ctr">
              <a:spcAft>
                <a:spcPts val="0"/>
              </a:spcAft>
              <a:defRPr sz="1400">
                <a:solidFill>
                  <a:srgbClr val="000000"/>
                </a:solidFill>
                <a:latin typeface="Consolas"/>
              </a:defRPr>
            </a:pPr>
            <a:r>
              <a:t>use: {</a:t>
            </a:r>
          </a:p>
          <a:p>
            <a:pPr>
              <a:spcAft>
                <a:spcPts val="0"/>
              </a:spcAft>
              <a:defRPr sz="1400">
                <a:solidFill>
                  <a:srgbClr val="000000"/>
                </a:solidFill>
                <a:latin typeface="Consolas"/>
              </a:defRPr>
            </a:pPr>
            <a:r>
              <a:t>  baseURL: 'http://localhost:9091',</a:t>
            </a:r>
          </a:p>
          <a:p>
            <a:pPr>
              <a:spcAft>
                <a:spcPts val="0"/>
              </a:spcAft>
              <a:defRPr sz="1400">
                <a:solidFill>
                  <a:srgbClr val="000000"/>
                </a:solidFill>
                <a:latin typeface="Consolas"/>
              </a:defRPr>
            </a:pPr>
            <a:r>
              <a:t>  screenshot: 'only-on-failure',</a:t>
            </a:r>
          </a:p>
          <a:p>
            <a:pPr>
              <a:spcAft>
                <a:spcPts val="0"/>
              </a:spcAft>
              <a:defRPr sz="1400">
                <a:solidFill>
                  <a:srgbClr val="000000"/>
                </a:solidFill>
                <a:latin typeface="Consolas"/>
              </a:defRPr>
            </a:pPr>
            <a:r>
              <a:t>  trace: 'on-first-retry',</a:t>
            </a:r>
          </a:p>
          <a:p>
            <a:pPr>
              <a:spcAft>
                <a:spcPts val="0"/>
              </a:spcAft>
              <a:defRPr sz="1400">
                <a:solidFill>
                  <a:srgbClr val="000000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835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0">
                <a:solidFill>
                  <a:srgbClr val="000000"/>
                </a:solidFill>
                <a:latin typeface="Aptos"/>
              </a:defRPr>
            </a:pPr>
            <a:r>
              <a:t>Playwright-Konfiguration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43000"/>
            <a:ext cx="6446520" cy="4389120"/>
          </a:xfrm>
          <a:prstGeom prst="rect">
            <a:avLst/>
          </a:prstGeom>
          <a:solidFill>
            <a:srgbClr val="F5F5F5"/>
          </a:solidFill>
          <a:ln w="9525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9728" tIns="73152" rIns="109728" bIns="73152" rtlCol="0" anchor="ctr"/>
          <a:lstStyle/>
          <a:p>
            <a:pPr algn="ctr">
              <a:spcAft>
                <a:spcPts val="0"/>
              </a:spcAft>
              <a:defRPr sz="1250">
                <a:solidFill>
                  <a:srgbClr val="000000"/>
                </a:solidFill>
                <a:latin typeface="Consolas"/>
              </a:defRPr>
            </a:pPr>
            <a:r>
              <a:t>export default defineConfig({</a:t>
            </a:r>
          </a:p>
          <a:p>
            <a:pPr>
              <a:spcAft>
                <a:spcPts val="0"/>
              </a:spcAft>
              <a:defRPr sz="1250">
                <a:solidFill>
                  <a:srgbClr val="000000"/>
                </a:solidFill>
                <a:latin typeface="Consolas"/>
              </a:defRPr>
            </a:pPr>
            <a:r>
              <a:t>  testDir: './tests',</a:t>
            </a:r>
          </a:p>
          <a:p>
            <a:pPr>
              <a:spcAft>
                <a:spcPts val="0"/>
              </a:spcAft>
              <a:defRPr sz="1250">
                <a:solidFill>
                  <a:srgbClr val="000000"/>
                </a:solidFill>
                <a:latin typeface="Consolas"/>
              </a:defRPr>
            </a:pPr>
            <a:r>
              <a:t>  timeout: 30_000,</a:t>
            </a:r>
          </a:p>
          <a:p>
            <a:pPr>
              <a:spcAft>
                <a:spcPts val="0"/>
              </a:spcAft>
              <a:defRPr sz="1250">
                <a:solidFill>
                  <a:srgbClr val="000000"/>
                </a:solidFill>
                <a:latin typeface="Consolas"/>
              </a:defRPr>
            </a:pPr>
            <a:r>
              <a:t>  expect: { timeout: 10_000 },</a:t>
            </a:r>
          </a:p>
          <a:p>
            <a:pPr>
              <a:spcAft>
                <a:spcPts val="0"/>
              </a:spcAft>
              <a:defRPr sz="1250">
                <a:solidFill>
                  <a:srgbClr val="000000"/>
                </a:solidFill>
                <a:latin typeface="Consolas"/>
              </a:defRPr>
            </a:pPr>
            <a:r>
              <a:t>  workers: 1,</a:t>
            </a:r>
          </a:p>
          <a:p>
            <a:pPr>
              <a:spcAft>
                <a:spcPts val="0"/>
              </a:spcAft>
              <a:defRPr sz="1250">
                <a:solidFill>
                  <a:srgbClr val="000000"/>
                </a:solidFill>
                <a:latin typeface="Consolas"/>
              </a:defRPr>
            </a:pPr>
            <a:r>
              <a:t>  fullyParallel: false,</a:t>
            </a:r>
          </a:p>
          <a:p>
            <a:pPr>
              <a:spcAft>
                <a:spcPts val="0"/>
              </a:spcAft>
              <a:defRPr sz="1250">
                <a:solidFill>
                  <a:srgbClr val="000000"/>
                </a:solidFill>
                <a:latin typeface="Consolas"/>
              </a:defRPr>
            </a:pPr>
            <a:r>
              <a:t>  reporter: [['list'], ['html', { open: 'never' }]],</a:t>
            </a:r>
          </a:p>
          <a:p>
            <a:pPr>
              <a:spcAft>
                <a:spcPts val="0"/>
              </a:spcAft>
              <a:defRPr sz="1250">
                <a:solidFill>
                  <a:srgbClr val="000000"/>
                </a:solidFill>
                <a:latin typeface="Consolas"/>
              </a:defRPr>
            </a:pPr>
            <a:r>
              <a:t>  use: {</a:t>
            </a:r>
          </a:p>
          <a:p>
            <a:pPr>
              <a:spcAft>
                <a:spcPts val="0"/>
              </a:spcAft>
              <a:defRPr sz="1250">
                <a:solidFill>
                  <a:srgbClr val="000000"/>
                </a:solidFill>
                <a:latin typeface="Consolas"/>
              </a:defRPr>
            </a:pPr>
            <a:r>
              <a:t>    baseURL: 'http://localhost:9091',</a:t>
            </a:r>
          </a:p>
          <a:p>
            <a:pPr>
              <a:spcAft>
                <a:spcPts val="0"/>
              </a:spcAft>
              <a:defRPr sz="1250">
                <a:solidFill>
                  <a:srgbClr val="000000"/>
                </a:solidFill>
                <a:latin typeface="Consolas"/>
              </a:defRPr>
            </a:pPr>
            <a:r>
              <a:t>    screenshot: 'only-on-failure',</a:t>
            </a:r>
          </a:p>
          <a:p>
            <a:pPr>
              <a:spcAft>
                <a:spcPts val="0"/>
              </a:spcAft>
              <a:defRPr sz="1250">
                <a:solidFill>
                  <a:srgbClr val="000000"/>
                </a:solidFill>
                <a:latin typeface="Consolas"/>
              </a:defRPr>
            </a:pPr>
            <a:r>
              <a:t>    trace: 'on-first-retry',</a:t>
            </a:r>
          </a:p>
          <a:p>
            <a:pPr>
              <a:spcAft>
                <a:spcPts val="0"/>
              </a:spcAft>
              <a:defRPr sz="1250">
                <a:solidFill>
                  <a:srgbClr val="000000"/>
                </a:solidFill>
                <a:latin typeface="Consolas"/>
              </a:defRPr>
            </a:pPr>
            <a:r>
              <a:t>  },</a:t>
            </a:r>
          </a:p>
          <a:p>
            <a:pPr>
              <a:spcAft>
                <a:spcPts val="0"/>
              </a:spcAft>
              <a:defRPr sz="1250">
                <a:solidFill>
                  <a:srgbClr val="000000"/>
                </a:solidFill>
                <a:latin typeface="Consolas"/>
              </a:defRPr>
            </a:pPr>
            <a:r>
              <a:t>  projects: [{</a:t>
            </a:r>
          </a:p>
          <a:p>
            <a:pPr>
              <a:spcAft>
                <a:spcPts val="0"/>
              </a:spcAft>
              <a:defRPr sz="1250">
                <a:solidFill>
                  <a:srgbClr val="000000"/>
                </a:solidFill>
                <a:latin typeface="Consolas"/>
              </a:defRPr>
            </a:pPr>
            <a:r>
              <a:t>    name: 'chromium',</a:t>
            </a:r>
          </a:p>
          <a:p>
            <a:pPr>
              <a:spcAft>
                <a:spcPts val="0"/>
              </a:spcAft>
              <a:defRPr sz="1250">
                <a:solidFill>
                  <a:srgbClr val="000000"/>
                </a:solidFill>
                <a:latin typeface="Consolas"/>
              </a:defRPr>
            </a:pPr>
            <a:r>
              <a:t>    use: { ...devices['Desktop Chrome'] },</a:t>
            </a:r>
          </a:p>
          <a:p>
            <a:pPr>
              <a:spcAft>
                <a:spcPts val="0"/>
              </a:spcAft>
              <a:defRPr sz="1250">
                <a:solidFill>
                  <a:srgbClr val="000000"/>
                </a:solidFill>
                <a:latin typeface="Consolas"/>
              </a:defRPr>
            </a:pPr>
            <a:r>
              <a:t>  }],</a:t>
            </a:r>
          </a:p>
          <a:p>
            <a:pPr>
              <a:spcAft>
                <a:spcPts val="0"/>
              </a:spcAft>
              <a:defRPr sz="1250">
                <a:solidFill>
                  <a:srgbClr val="000000"/>
                </a:solidFill>
                <a:latin typeface="Consolas"/>
              </a:defRPr>
            </a:pPr>
            <a: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60920" y="1143000"/>
            <a:ext cx="4023360" cy="4389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  <a:latin typeface="Aptos"/>
              </a:defRPr>
            </a:pPr>
            <a:r>
              <a:t>Einfach gehalten, damit es auf FH-/CI-Umgebung stabil läuft.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  <a:latin typeface="Aptos"/>
              </a:defRPr>
            </a:pPr>
            <a:r>
              <a:t>HTML-Report ist praktisch für Abgabe und Fehlersuche.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  <a:latin typeface="Aptos"/>
              </a:defRPr>
            </a:pPr>
            <a:r>
              <a:t>Trace nur beim Retry, damit nicht unnötig viel gespeichert wird.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  <a:latin typeface="Aptos"/>
              </a:defRPr>
            </a:pPr>
            <a:r>
              <a:t>Keine volle Parallelisierung, weil mehrere UI-Tests dieselbe Test-App verwenden.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835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0">
                <a:solidFill>
                  <a:srgbClr val="000000"/>
                </a:solidFill>
                <a:latin typeface="Aptos"/>
              </a:defRPr>
            </a:pPr>
            <a:r>
              <a:t>Patrick – Unit Tests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143000"/>
          <a:ext cx="108813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4948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rPr dirty="0"/>
                        <a:t>Test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Warum gewählt?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Was wird geprüft?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49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Titel trimmen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User tippt Leerzeichen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„  Pasta  “ → „Pasta“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49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Mehrfachspaces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Suche/Anzeige stabil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mehrere Spaces werden reduziert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49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Kurzer Titel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kein sinnloser Rezeptname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&lt; 3 Zeichen ungültig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49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Slug mit Umlauten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deutsche Namen in URLs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Käse/Öl → kaese/oel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49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Zeit berechnen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Rezeptdauer wichtig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prep + cook = total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4952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Portionen-Text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Singular/Plural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rPr dirty="0"/>
                        <a:t>1 serving / 4 servings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685800" y="4343400"/>
            <a:ext cx="5394960" cy="1234440"/>
          </a:xfrm>
          <a:prstGeom prst="rect">
            <a:avLst/>
          </a:prstGeom>
          <a:solidFill>
            <a:srgbClr val="F5F5F5"/>
          </a:solidFill>
          <a:ln w="9525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9728" tIns="73152" rIns="109728" bIns="73152" rtlCol="0" anchor="ctr"/>
          <a:lstStyle/>
          <a:p>
            <a:pPr algn="ctr"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rPr dirty="0"/>
              <a:t>expect(</a:t>
            </a:r>
            <a:r>
              <a:rPr dirty="0" err="1"/>
              <a:t>createRecipeSlug</a:t>
            </a:r>
            <a:r>
              <a:rPr dirty="0"/>
              <a:t>('</a:t>
            </a:r>
            <a:r>
              <a:rPr dirty="0" err="1"/>
              <a:t>Käse</a:t>
            </a:r>
            <a:r>
              <a:rPr dirty="0"/>
              <a:t> Spätzle </a:t>
            </a:r>
            <a:r>
              <a:rPr dirty="0" err="1"/>
              <a:t>mit</a:t>
            </a:r>
            <a:r>
              <a:rPr dirty="0"/>
              <a:t> </a:t>
            </a:r>
            <a:r>
              <a:rPr dirty="0" err="1"/>
              <a:t>Öl</a:t>
            </a:r>
            <a:r>
              <a:rPr dirty="0"/>
              <a:t>'))</a:t>
            </a:r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rPr dirty="0"/>
              <a:t>  .</a:t>
            </a:r>
            <a:r>
              <a:rPr dirty="0" err="1"/>
              <a:t>toBe</a:t>
            </a:r>
            <a:r>
              <a:rPr dirty="0"/>
              <a:t>('</a:t>
            </a:r>
            <a:r>
              <a:rPr dirty="0" err="1"/>
              <a:t>kaese</a:t>
            </a:r>
            <a:r>
              <a:rPr dirty="0"/>
              <a:t>-spaetzle-</a:t>
            </a:r>
            <a:r>
              <a:rPr dirty="0" err="1"/>
              <a:t>mit</a:t>
            </a:r>
            <a:r>
              <a:rPr dirty="0"/>
              <a:t>-</a:t>
            </a:r>
            <a:r>
              <a:rPr dirty="0" err="1"/>
              <a:t>oel</a:t>
            </a:r>
            <a:r>
              <a:rPr dirty="0"/>
              <a:t>');</a:t>
            </a:r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endParaRPr dirty="0"/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rPr dirty="0"/>
              <a:t>expect(</a:t>
            </a:r>
            <a:r>
              <a:rPr dirty="0" err="1"/>
              <a:t>calculateTotalPreparationTime</a:t>
            </a:r>
            <a:r>
              <a:rPr dirty="0"/>
              <a:t>(15, 25))</a:t>
            </a:r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rPr dirty="0"/>
              <a:t>  .</a:t>
            </a:r>
            <a:r>
              <a:rPr dirty="0" err="1"/>
              <a:t>toBe</a:t>
            </a:r>
            <a:r>
              <a:rPr dirty="0"/>
              <a:t>(40);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4343400"/>
            <a:ext cx="5029200" cy="1188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  <a:latin typeface="Aptos"/>
              </a:defRPr>
            </a:pPr>
            <a:r>
              <a:t>Hintergrund: kleine Rezeptregeln sollen schnell abgesichert werden, ohne Browser und ohne Datenbank.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835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0">
                <a:solidFill>
                  <a:srgbClr val="000000"/>
                </a:solidFill>
                <a:latin typeface="Aptos"/>
              </a:defRPr>
            </a:pPr>
            <a:r>
              <a:t>Lukas – Unit Tests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143000"/>
          <a:ext cx="1088136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38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Test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Warum gewählt?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Was wird geprüft?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Leeres Passwort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darf nie gut wirken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Score = 0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Zu kurz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Mindestlänge als Basis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Ab1! bekommt 0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Blockiertes Wort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Login-nahe Wörter unsicher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Login1234! bekommt 0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Komplexität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besseres Passwort sichtbar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Test1234! &gt; testtest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Maximalwert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UI-Score darf nicht überlaufen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Score &lt;= 100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685800" y="3977639"/>
            <a:ext cx="5394960" cy="1371600"/>
          </a:xfrm>
          <a:prstGeom prst="rect">
            <a:avLst/>
          </a:prstGeom>
          <a:solidFill>
            <a:srgbClr val="F5F5F5"/>
          </a:solidFill>
          <a:ln w="9525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9728" tIns="73152" rIns="109728" bIns="73152" rtlCol="0" anchor="ctr"/>
          <a:lstStyle/>
          <a:p>
            <a:pPr algn="ctr"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t>expect(scorePassword('')).toBe(0);</a:t>
            </a:r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t>expect(scorePassword('Ab1!')).toBe(0);</a:t>
            </a:r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endParaRPr/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t>expect(scorePassword('Test1234!'))</a:t>
            </a:r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t>  .toBeGreaterThan(scorePassword('testtest'));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3977639"/>
            <a:ext cx="502920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  <a:latin typeface="Aptos"/>
              </a:defRPr>
            </a:pPr>
            <a:r>
              <a:rPr lang="de-DE" dirty="0"/>
              <a:t>Warum getestet?</a:t>
            </a:r>
            <a:br>
              <a:rPr lang="de-DE" dirty="0"/>
            </a:br>
            <a:r>
              <a:rPr lang="de-DE" dirty="0"/>
              <a:t>- Passwortlogik ist sicherheitsrelevant</a:t>
            </a:r>
            <a:br>
              <a:rPr lang="de-DE" dirty="0"/>
            </a:br>
            <a:r>
              <a:rPr lang="de-DE" dirty="0"/>
              <a:t>- viele Grenzfälle möglich</a:t>
            </a:r>
            <a:br>
              <a:rPr lang="de-DE" dirty="0"/>
            </a:br>
            <a:r>
              <a:rPr lang="de-DE" dirty="0"/>
              <a:t>- Fehler wären für Benutzer direkt sichtbar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835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0">
                <a:solidFill>
                  <a:srgbClr val="000000"/>
                </a:solidFill>
                <a:latin typeface="Aptos"/>
              </a:defRPr>
            </a:pPr>
            <a:r>
              <a:t>Patrick – Integration Tests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143000"/>
          <a:ext cx="1088136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719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Test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Warum gewählt?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Erwartung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/api/users/self ohne Login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Benutzerdaten schützen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401 oder 403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/api/auth/token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API-Login muss gehen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Token vorhanden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/api/users/self mit Token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Token + User-Endpunkt zusammen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E-Mail stimmt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685800" y="3154680"/>
            <a:ext cx="5715000" cy="1417320"/>
          </a:xfrm>
          <a:prstGeom prst="rect">
            <a:avLst/>
          </a:prstGeom>
          <a:solidFill>
            <a:srgbClr val="F5F5F5"/>
          </a:solidFill>
          <a:ln w="9525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9728" tIns="73152" rIns="109728" bIns="73152" rtlCol="0" anchor="ctr"/>
          <a:lstStyle/>
          <a:p>
            <a:pPr algn="ctr"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t>const response = await request.get('/api/users/self', {</a:t>
            </a:r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t>  headers: { Authorization: `Bearer ${token}` },</a:t>
            </a:r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t>});</a:t>
            </a:r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endParaRPr/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t>expect(response.ok()).toBeTruthy();</a:t>
            </a:r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t>expect(body.email).toBe(TEST_EMAIL);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29400" y="3154680"/>
            <a:ext cx="4663440" cy="2011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  <a:latin typeface="Aptos"/>
              </a:defRPr>
            </a:pPr>
            <a:r>
              <a:rPr dirty="0" err="1"/>
              <a:t>Warum</a:t>
            </a:r>
            <a:r>
              <a:rPr dirty="0"/>
              <a:t> Integration? </a:t>
            </a:r>
            <a:r>
              <a:rPr dirty="0" err="1"/>
              <a:t>Hier</a:t>
            </a:r>
            <a:r>
              <a:rPr dirty="0"/>
              <a:t> </a:t>
            </a:r>
            <a:r>
              <a:rPr dirty="0" err="1"/>
              <a:t>wird</a:t>
            </a:r>
            <a:r>
              <a:rPr dirty="0"/>
              <a:t> </a:t>
            </a:r>
            <a:r>
              <a:rPr dirty="0" err="1"/>
              <a:t>nicht</a:t>
            </a:r>
            <a:r>
              <a:rPr dirty="0"/>
              <a:t> </a:t>
            </a:r>
            <a:r>
              <a:rPr dirty="0" err="1"/>
              <a:t>nur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Funktion</a:t>
            </a:r>
            <a:r>
              <a:rPr dirty="0"/>
              <a:t> </a:t>
            </a:r>
            <a:r>
              <a:rPr dirty="0" err="1"/>
              <a:t>getestet</a:t>
            </a:r>
            <a:r>
              <a:rPr dirty="0"/>
              <a:t>, </a:t>
            </a:r>
            <a:r>
              <a:rPr dirty="0" err="1"/>
              <a:t>sondern</a:t>
            </a:r>
            <a:r>
              <a:rPr dirty="0"/>
              <a:t> das </a:t>
            </a:r>
            <a:r>
              <a:rPr dirty="0" err="1"/>
              <a:t>Zusammenspiel</a:t>
            </a:r>
            <a:r>
              <a:rPr dirty="0"/>
              <a:t> von </a:t>
            </a:r>
            <a:r>
              <a:rPr dirty="0" err="1"/>
              <a:t>Authentifizierung</a:t>
            </a:r>
            <a:r>
              <a:rPr dirty="0"/>
              <a:t> und User-API.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  <a:latin typeface="Aptos"/>
              </a:defRPr>
            </a:pPr>
            <a:r>
              <a:rPr dirty="0" err="1"/>
              <a:t>Warum</a:t>
            </a:r>
            <a:r>
              <a:rPr dirty="0"/>
              <a:t> </a:t>
            </a:r>
            <a:r>
              <a:rPr dirty="0" err="1"/>
              <a:t>ohne</a:t>
            </a:r>
            <a:r>
              <a:rPr dirty="0"/>
              <a:t> Browser? API-Tests </a:t>
            </a:r>
            <a:r>
              <a:rPr dirty="0" err="1"/>
              <a:t>sind</a:t>
            </a:r>
            <a:r>
              <a:rPr dirty="0"/>
              <a:t> </a:t>
            </a:r>
            <a:r>
              <a:rPr dirty="0" err="1"/>
              <a:t>schneller</a:t>
            </a:r>
            <a:r>
              <a:rPr dirty="0"/>
              <a:t> und </a:t>
            </a:r>
            <a:r>
              <a:rPr dirty="0" err="1"/>
              <a:t>genauer</a:t>
            </a:r>
            <a:r>
              <a:rPr dirty="0"/>
              <a:t> für </a:t>
            </a:r>
            <a:r>
              <a:rPr dirty="0" err="1"/>
              <a:t>Statuscodes</a:t>
            </a:r>
            <a:r>
              <a:rPr dirty="0"/>
              <a:t> und Response Bodies.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835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0">
                <a:solidFill>
                  <a:srgbClr val="000000"/>
                </a:solidFill>
                <a:latin typeface="Aptos"/>
              </a:defRPr>
            </a:pPr>
            <a:r>
              <a:t>Lukas – Integration Tests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143000"/>
          <a:ext cx="1088136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719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Test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Warum gewählt?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Erwartung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Self ohne Auth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Basis-Sicherheitscheck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Status 401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Login → Self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richtiger User nach Login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email + groupSlug stimmen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Rezept erstellen und laden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POST und GET müssen passen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Name und slug stimmen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685800" y="3063240"/>
            <a:ext cx="5806440" cy="1737360"/>
          </a:xfrm>
          <a:prstGeom prst="rect">
            <a:avLst/>
          </a:prstGeom>
          <a:solidFill>
            <a:srgbClr val="F5F5F5"/>
          </a:solidFill>
          <a:ln w="9525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9728" tIns="73152" rIns="109728" bIns="73152" rtlCol="0" anchor="ctr"/>
          <a:lstStyle/>
          <a:p>
            <a:pPr algn="ctr">
              <a:spcAft>
                <a:spcPts val="0"/>
              </a:spcAft>
              <a:defRPr sz="1200">
                <a:solidFill>
                  <a:srgbClr val="000000"/>
                </a:solidFill>
                <a:latin typeface="Consolas"/>
              </a:defRPr>
            </a:pPr>
            <a:r>
              <a:t>const createResponse = await request.post('/api/recipes', {</a:t>
            </a:r>
          </a:p>
          <a:p>
            <a:pPr>
              <a:spcAft>
                <a:spcPts val="0"/>
              </a:spcAft>
              <a:defRPr sz="1200">
                <a:solidFill>
                  <a:srgbClr val="000000"/>
                </a:solidFill>
                <a:latin typeface="Consolas"/>
              </a:defRPr>
            </a:pPr>
            <a:r>
              <a:t>  headers: { Authorization: `Bearer ${token}` },</a:t>
            </a:r>
          </a:p>
          <a:p>
            <a:pPr>
              <a:spcAft>
                <a:spcPts val="0"/>
              </a:spcAft>
              <a:defRPr sz="1200">
                <a:solidFill>
                  <a:srgbClr val="000000"/>
                </a:solidFill>
                <a:latin typeface="Consolas"/>
              </a:defRPr>
            </a:pPr>
            <a:r>
              <a:t>  data: { name },</a:t>
            </a:r>
          </a:p>
          <a:p>
            <a:pPr>
              <a:spcAft>
                <a:spcPts val="0"/>
              </a:spcAft>
              <a:defRPr sz="1200">
                <a:solidFill>
                  <a:srgbClr val="000000"/>
                </a:solidFill>
                <a:latin typeface="Consolas"/>
              </a:defRPr>
            </a:pPr>
            <a:r>
              <a:t>});</a:t>
            </a:r>
          </a:p>
          <a:p>
            <a:pPr>
              <a:spcAft>
                <a:spcPts val="0"/>
              </a:spcAft>
              <a:defRPr sz="1200">
                <a:solidFill>
                  <a:srgbClr val="000000"/>
                </a:solidFill>
                <a:latin typeface="Consolas"/>
              </a:defRPr>
            </a:pPr>
            <a:endParaRPr/>
          </a:p>
          <a:p>
            <a:pPr>
              <a:spcAft>
                <a:spcPts val="0"/>
              </a:spcAft>
              <a:defRPr sz="1200">
                <a:solidFill>
                  <a:srgbClr val="000000"/>
                </a:solidFill>
                <a:latin typeface="Consolas"/>
              </a:defRPr>
            </a:pPr>
            <a:r>
              <a:t>const slug = await createResponse.json();</a:t>
            </a:r>
          </a:p>
          <a:p>
            <a:pPr>
              <a:spcAft>
                <a:spcPts val="0"/>
              </a:spcAft>
              <a:defRPr sz="1200">
                <a:solidFill>
                  <a:srgbClr val="000000"/>
                </a:solidFill>
                <a:latin typeface="Consolas"/>
              </a:defRPr>
            </a:pPr>
            <a:r>
              <a:t>const recipeResponse =</a:t>
            </a:r>
          </a:p>
          <a:p>
            <a:pPr>
              <a:spcAft>
                <a:spcPts val="0"/>
              </a:spcAft>
              <a:defRPr sz="1200">
                <a:solidFill>
                  <a:srgbClr val="000000"/>
                </a:solidFill>
                <a:latin typeface="Consolas"/>
              </a:defRPr>
            </a:pPr>
            <a:r>
              <a:t>  await request.get(`/api/recipes/${slug}`, { headers });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32179" y="3063239"/>
            <a:ext cx="4714941" cy="3269243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  <a:latin typeface="Aptos"/>
              </a:defRPr>
            </a:pPr>
            <a:r>
              <a:rPr lang="de-DE" dirty="0"/>
              <a:t>Warum dieser Test?</a:t>
            </a:r>
            <a:br>
              <a:rPr lang="de-DE" dirty="0"/>
            </a:br>
            <a:r>
              <a:rPr lang="de-DE" dirty="0"/>
              <a:t>- wichtigster fachlicher API-Ablauf</a:t>
            </a:r>
            <a:br>
              <a:rPr lang="de-DE" dirty="0"/>
            </a:br>
            <a:r>
              <a:rPr lang="de-DE" dirty="0"/>
              <a:t>- Rezept erstellen ist Kernfunktion von </a:t>
            </a:r>
            <a:r>
              <a:rPr lang="de-DE" dirty="0" err="1"/>
              <a:t>Mealie</a:t>
            </a:r>
            <a:br>
              <a:rPr lang="de-DE" dirty="0"/>
            </a:br>
            <a:r>
              <a:rPr lang="de-DE" dirty="0"/>
              <a:t>- prüft mehr als nur einen Statuscode</a:t>
            </a:r>
            <a:endParaRPr lang="de-AT" dirty="0"/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  <a:latin typeface="Aptos"/>
              </a:defRPr>
            </a:pPr>
            <a:r>
              <a:rPr dirty="0" err="1"/>
              <a:t>Damit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 Auth, </a:t>
            </a:r>
            <a:r>
              <a:rPr dirty="0" err="1"/>
              <a:t>Rezept</a:t>
            </a:r>
            <a:r>
              <a:rPr dirty="0"/>
              <a:t>-API und </a:t>
            </a:r>
            <a:r>
              <a:rPr dirty="0" err="1"/>
              <a:t>Datenhaltung</a:t>
            </a:r>
            <a:r>
              <a:rPr dirty="0"/>
              <a:t> </a:t>
            </a:r>
            <a:r>
              <a:rPr dirty="0" err="1"/>
              <a:t>gemeinsam</a:t>
            </a:r>
            <a:r>
              <a:rPr dirty="0"/>
              <a:t> </a:t>
            </a:r>
            <a:r>
              <a:rPr dirty="0" err="1"/>
              <a:t>geprüft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835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0">
                <a:solidFill>
                  <a:srgbClr val="000000"/>
                </a:solidFill>
                <a:latin typeface="Aptos"/>
              </a:defRPr>
            </a:pPr>
            <a:r>
              <a:t>Patrick – E2E Tests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143000"/>
          <a:ext cx="10881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E2E-Test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Warum gewählt?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Was wird geprüft?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Rezept mit eindeutigem Titel erstellen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Kernfunktion der App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Formular, Speichern, Sichtbarkeit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Erstelltes Rezept suchen und öffnen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Suche ist zentral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Liste, Suche, Link, Detailseite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685800" y="2834640"/>
            <a:ext cx="5852160" cy="1600200"/>
          </a:xfrm>
          <a:prstGeom prst="rect">
            <a:avLst/>
          </a:prstGeom>
          <a:solidFill>
            <a:srgbClr val="F5F5F5"/>
          </a:solidFill>
          <a:ln w="9525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9728" tIns="73152" rIns="109728" bIns="73152" rtlCol="0" anchor="ctr"/>
          <a:lstStyle/>
          <a:p>
            <a:pPr algn="ctr"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t>const recipeName = `WAT4 Test Recipe ${Date.now()}`;</a:t>
            </a:r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endParaRPr/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t>await page.getByRole('button', { name: 'Create' }).click();</a:t>
            </a:r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t>await recipeNameInput.fill(recipeName);</a:t>
            </a:r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endParaRPr/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t>await expect(page.getByText(recipeName).first())</a:t>
            </a:r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t>  .toBeVisible();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20840" y="2834640"/>
            <a:ext cx="4526280" cy="2194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  <a:latin typeface="Aptos"/>
              </a:defRPr>
            </a:pPr>
            <a:r>
              <a:t>Warum E2E? Die Tests laufen wie ein echter User im Browser.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  <a:latin typeface="Aptos"/>
              </a:defRPr>
            </a:pPr>
            <a:r>
              <a:t>Dadurch werden auch Routing, UI-Elemente, Formularlogik und sichtbare Ergebnisse mitgeprüft.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  <a:latin typeface="Aptos"/>
              </a:defRPr>
            </a:pPr>
            <a:r>
              <a:t>Nachteil: langsamer und empfindlicher, daher nur wenige davon.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835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0">
                <a:solidFill>
                  <a:srgbClr val="000000"/>
                </a:solidFill>
                <a:latin typeface="Aptos"/>
              </a:defRPr>
            </a:pPr>
            <a:r>
              <a:t>Lukas – E2E Tests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143000"/>
          <a:ext cx="10881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E2E-Test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Warum gewählt?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Was wird geprüft?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Login zeigt Rezept-Startseite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ohne Login ist App nicht nutzbar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Recipes-Link + Create-Button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Neues Rezept über Formular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Hauptfunktion der App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Route, Eingabe, Submit, Edit-Seite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685800" y="2834640"/>
            <a:ext cx="5852160" cy="1828800"/>
          </a:xfrm>
          <a:prstGeom prst="rect">
            <a:avLst/>
          </a:prstGeom>
          <a:solidFill>
            <a:srgbClr val="F5F5F5"/>
          </a:solidFill>
          <a:ln w="9525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9728" tIns="73152" rIns="109728" bIns="73152" rtlCol="0" anchor="ctr"/>
          <a:lstStyle/>
          <a:p>
            <a:pPr algn="ctr">
              <a:spcAft>
                <a:spcPts val="0"/>
              </a:spcAft>
              <a:defRPr sz="1200">
                <a:solidFill>
                  <a:srgbClr val="000000"/>
                </a:solidFill>
                <a:latin typeface="Consolas"/>
              </a:defRPr>
            </a:pPr>
            <a:r>
              <a:t>await login(page);</a:t>
            </a:r>
          </a:p>
          <a:p>
            <a:pPr>
              <a:spcAft>
                <a:spcPts val="0"/>
              </a:spcAft>
              <a:defRPr sz="1200">
                <a:solidFill>
                  <a:srgbClr val="000000"/>
                </a:solidFill>
                <a:latin typeface="Consolas"/>
              </a:defRPr>
            </a:pPr>
            <a:r>
              <a:t>await page.goto('/g/home/r/create/new');</a:t>
            </a:r>
          </a:p>
          <a:p>
            <a:pPr>
              <a:spcAft>
                <a:spcPts val="0"/>
              </a:spcAft>
              <a:defRPr sz="1200">
                <a:solidFill>
                  <a:srgbClr val="000000"/>
                </a:solidFill>
                <a:latin typeface="Consolas"/>
              </a:defRPr>
            </a:pPr>
            <a:endParaRPr/>
          </a:p>
          <a:p>
            <a:pPr>
              <a:spcAft>
                <a:spcPts val="0"/>
              </a:spcAft>
              <a:defRPr sz="1200">
                <a:solidFill>
                  <a:srgbClr val="000000"/>
                </a:solidFill>
                <a:latin typeface="Consolas"/>
              </a:defRPr>
            </a:pPr>
            <a:r>
              <a:t>await page.getByRole('textbox', {</a:t>
            </a:r>
          </a:p>
          <a:p>
            <a:pPr>
              <a:spcAft>
                <a:spcPts val="0"/>
              </a:spcAft>
              <a:defRPr sz="1200">
                <a:solidFill>
                  <a:srgbClr val="000000"/>
                </a:solidFill>
                <a:latin typeface="Consolas"/>
              </a:defRPr>
            </a:pPr>
            <a:r>
              <a:t>  name: /Rezeptname|Recipe Name/i</a:t>
            </a:r>
          </a:p>
          <a:p>
            <a:pPr>
              <a:spcAft>
                <a:spcPts val="0"/>
              </a:spcAft>
              <a:defRPr sz="1200">
                <a:solidFill>
                  <a:srgbClr val="000000"/>
                </a:solidFill>
                <a:latin typeface="Consolas"/>
              </a:defRPr>
            </a:pPr>
            <a:r>
              <a:t>}).fill(recipeName);</a:t>
            </a:r>
          </a:p>
          <a:p>
            <a:pPr>
              <a:spcAft>
                <a:spcPts val="0"/>
              </a:spcAft>
              <a:defRPr sz="1200">
                <a:solidFill>
                  <a:srgbClr val="000000"/>
                </a:solidFill>
                <a:latin typeface="Consolas"/>
              </a:defRPr>
            </a:pPr>
            <a:endParaRPr/>
          </a:p>
          <a:p>
            <a:pPr>
              <a:spcAft>
                <a:spcPts val="0"/>
              </a:spcAft>
              <a:defRPr sz="1200">
                <a:solidFill>
                  <a:srgbClr val="000000"/>
                </a:solidFill>
                <a:latin typeface="Consolas"/>
              </a:defRPr>
            </a:pPr>
            <a:r>
              <a:t>await page.waitForURL(/\/g\/home\/r\/.+\?edit=true/);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3559" y="2834639"/>
            <a:ext cx="4583561" cy="348207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  <a:latin typeface="Aptos"/>
              </a:defRPr>
            </a:pPr>
            <a:r>
              <a:rPr lang="de-DE" dirty="0"/>
              <a:t>Warum </a:t>
            </a:r>
            <a:r>
              <a:rPr lang="de-DE" dirty="0" err="1"/>
              <a:t>Regex</a:t>
            </a:r>
            <a:r>
              <a:rPr lang="de-DE" dirty="0"/>
              <a:t>?</a:t>
            </a:r>
            <a:br>
              <a:rPr lang="de-DE" dirty="0"/>
            </a:br>
            <a:r>
              <a:rPr lang="de-DE" dirty="0"/>
              <a:t>- </a:t>
            </a:r>
            <a:r>
              <a:rPr lang="de-DE" dirty="0" err="1"/>
              <a:t>Mealie</a:t>
            </a:r>
            <a:r>
              <a:rPr lang="de-DE" dirty="0"/>
              <a:t>-Oberfläche kann Deutsch oder Englisch sein</a:t>
            </a:r>
            <a:br>
              <a:rPr lang="de-DE" dirty="0"/>
            </a:br>
            <a:r>
              <a:rPr lang="de-DE" dirty="0"/>
              <a:t>- Button-/Label-Texte unterscheiden sich je nach Sprache</a:t>
            </a:r>
            <a:br>
              <a:rPr lang="de-DE" dirty="0"/>
            </a:br>
            <a:r>
              <a:rPr lang="de-DE" dirty="0"/>
              <a:t>- weniger abhängig von exakter Übersetzung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  <a:latin typeface="Aptos"/>
              </a:defRPr>
            </a:pPr>
            <a:r>
              <a:rPr dirty="0"/>
              <a:t>Der Test </a:t>
            </a:r>
            <a:r>
              <a:rPr dirty="0" err="1"/>
              <a:t>bleibt</a:t>
            </a:r>
            <a:r>
              <a:rPr dirty="0"/>
              <a:t> </a:t>
            </a:r>
            <a:r>
              <a:rPr dirty="0" err="1"/>
              <a:t>damit</a:t>
            </a:r>
            <a:r>
              <a:rPr dirty="0"/>
              <a:t> </a:t>
            </a:r>
            <a:r>
              <a:rPr dirty="0" err="1"/>
              <a:t>stabiler</a:t>
            </a:r>
            <a:r>
              <a:rPr dirty="0"/>
              <a:t>, </a:t>
            </a:r>
            <a:r>
              <a:rPr dirty="0" err="1"/>
              <a:t>obwohl</a:t>
            </a:r>
            <a:r>
              <a:rPr dirty="0"/>
              <a:t> </a:t>
            </a:r>
            <a:r>
              <a:rPr dirty="0" err="1"/>
              <a:t>sich</a:t>
            </a:r>
            <a:r>
              <a:rPr dirty="0"/>
              <a:t> die </a:t>
            </a:r>
            <a:r>
              <a:rPr dirty="0" err="1"/>
              <a:t>Sprache</a:t>
            </a:r>
            <a:r>
              <a:rPr dirty="0"/>
              <a:t> </a:t>
            </a:r>
            <a:r>
              <a:rPr dirty="0" err="1"/>
              <a:t>unterscheiden</a:t>
            </a:r>
            <a:r>
              <a:rPr dirty="0"/>
              <a:t> </a:t>
            </a:r>
            <a:r>
              <a:rPr dirty="0" err="1"/>
              <a:t>kann</a:t>
            </a:r>
            <a:r>
              <a:rPr dirty="0"/>
              <a:t>.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  <a:latin typeface="Aptos"/>
              </a:defRPr>
            </a:pPr>
            <a:r>
              <a:rPr dirty="0"/>
              <a:t>Auch </a:t>
            </a:r>
            <a:r>
              <a:rPr dirty="0" err="1"/>
              <a:t>hier</a:t>
            </a:r>
            <a:r>
              <a:rPr dirty="0"/>
              <a:t> </a:t>
            </a:r>
            <a:r>
              <a:rPr dirty="0" err="1"/>
              <a:t>wird</a:t>
            </a:r>
            <a:r>
              <a:rPr dirty="0"/>
              <a:t> </a:t>
            </a:r>
            <a:r>
              <a:rPr dirty="0" err="1"/>
              <a:t>bewusst</a:t>
            </a:r>
            <a:r>
              <a:rPr dirty="0"/>
              <a:t> der </a:t>
            </a:r>
            <a:r>
              <a:rPr dirty="0" err="1"/>
              <a:t>echte</a:t>
            </a:r>
            <a:r>
              <a:rPr dirty="0"/>
              <a:t> User-</a:t>
            </a:r>
            <a:r>
              <a:rPr dirty="0" err="1"/>
              <a:t>Ablauf</a:t>
            </a:r>
            <a:r>
              <a:rPr dirty="0"/>
              <a:t> </a:t>
            </a:r>
            <a:r>
              <a:rPr dirty="0" err="1"/>
              <a:t>getestet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835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0">
                <a:solidFill>
                  <a:srgbClr val="000000"/>
                </a:solidFill>
                <a:latin typeface="Aptos"/>
              </a:defRPr>
            </a:pPr>
            <a:r>
              <a:t>Gemeinsamer Login-Helper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43000"/>
            <a:ext cx="5943600" cy="3474720"/>
          </a:xfrm>
          <a:prstGeom prst="rect">
            <a:avLst/>
          </a:prstGeom>
          <a:solidFill>
            <a:srgbClr val="F5F5F5"/>
          </a:solidFill>
          <a:ln w="9525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9728" tIns="73152" rIns="109728" bIns="73152" rtlCol="0" anchor="ctr"/>
          <a:lstStyle/>
          <a:p>
            <a:pPr algn="ctr"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t>export async function login(page) {</a:t>
            </a:r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t>  await page.goto('/login');</a:t>
            </a:r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endParaRPr/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t>  await page.getByLabel(/Email|E-Mail/i)</a:t>
            </a:r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t>    .fill('test@example.com');</a:t>
            </a:r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endParaRPr/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t>  await page.getByLabel(/Password|Passwort/i)</a:t>
            </a:r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t>    .fill('Test1234!');</a:t>
            </a:r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endParaRPr/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t>  await page.getByRole('button', { name: /Login|Sign in/i })</a:t>
            </a:r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t>    .click();</a:t>
            </a:r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0" y="1143000"/>
            <a:ext cx="4480560" cy="3657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  <a:latin typeface="Aptos"/>
              </a:defRPr>
            </a:pPr>
            <a:r>
              <a:t>Viele UI-Tests brauchen zuerst einen Login.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  <a:latin typeface="Aptos"/>
              </a:defRPr>
            </a:pPr>
            <a:r>
              <a:t>Der Helper vermeidet Copy-Paste in mehreren Testdateien.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  <a:latin typeface="Aptos"/>
              </a:defRPr>
            </a:pPr>
            <a:r>
              <a:t>Wenn sich das Login-Formular ändert, muss nur eine Stelle angepasst werden.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  <a:latin typeface="Aptos"/>
              </a:defRPr>
            </a:pPr>
            <a:r>
              <a:t>Der Helper ist selbst kein Test, sondern Testvorbereitung.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  <a:latin typeface="Aptos"/>
              </a:defRPr>
            </a:pPr>
            <a:r>
              <a:t>Jeder E2E-Test ruft login(page) selbst auf und hängt nicht vom vorherigen Test ab.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835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0">
                <a:solidFill>
                  <a:srgbClr val="000000"/>
                </a:solidFill>
                <a:latin typeface="Aptos"/>
              </a:defRPr>
            </a:pPr>
            <a:r>
              <a:t>Load Tests – Ziel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143000"/>
          <a:ext cx="1088136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Person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Endpunkt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Art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Grenzwert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Patrick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GET /api/recipes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Ramp-up / Ramp-down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Stufe &lt; 10s, 0 Fehler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Lukas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GET /api/recipes?page=1&amp;perPage=10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20 parallele Requests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p95 &lt; 2000ms, 0 Fehler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2743200"/>
            <a:ext cx="10835640" cy="2926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000000"/>
                </a:solidFill>
                <a:latin typeface="Aptos"/>
              </a:defRPr>
            </a:pPr>
            <a:r>
              <a:rPr dirty="0" err="1"/>
              <a:t>Wir</a:t>
            </a:r>
            <a:r>
              <a:rPr dirty="0"/>
              <a:t> </a:t>
            </a:r>
            <a:r>
              <a:rPr dirty="0" err="1"/>
              <a:t>wollten</a:t>
            </a:r>
            <a:r>
              <a:rPr dirty="0"/>
              <a:t> </a:t>
            </a:r>
            <a:r>
              <a:rPr dirty="0" err="1"/>
              <a:t>keinen</a:t>
            </a:r>
            <a:r>
              <a:rPr dirty="0"/>
              <a:t> </a:t>
            </a:r>
            <a:r>
              <a:rPr dirty="0" err="1"/>
              <a:t>großen</a:t>
            </a:r>
            <a:r>
              <a:rPr dirty="0"/>
              <a:t> Benchmark </a:t>
            </a:r>
            <a:r>
              <a:rPr dirty="0" err="1"/>
              <a:t>bauen</a:t>
            </a:r>
            <a:r>
              <a:rPr dirty="0"/>
              <a:t>, </a:t>
            </a:r>
            <a:r>
              <a:rPr dirty="0" err="1"/>
              <a:t>sondern</a:t>
            </a:r>
            <a:r>
              <a:rPr dirty="0"/>
              <a:t> </a:t>
            </a:r>
            <a:r>
              <a:rPr dirty="0" err="1"/>
              <a:t>einen</a:t>
            </a:r>
            <a:r>
              <a:rPr dirty="0"/>
              <a:t> </a:t>
            </a:r>
            <a:r>
              <a:rPr dirty="0" err="1"/>
              <a:t>zentralen</a:t>
            </a:r>
            <a:r>
              <a:rPr dirty="0"/>
              <a:t> API-</a:t>
            </a:r>
            <a:r>
              <a:rPr dirty="0" err="1"/>
              <a:t>Endpunkt</a:t>
            </a:r>
            <a:r>
              <a:rPr dirty="0"/>
              <a:t> </a:t>
            </a:r>
            <a:r>
              <a:rPr dirty="0" err="1"/>
              <a:t>unter</a:t>
            </a:r>
            <a:r>
              <a:rPr dirty="0"/>
              <a:t> </a:t>
            </a:r>
            <a:r>
              <a:rPr dirty="0" err="1"/>
              <a:t>moderater</a:t>
            </a:r>
            <a:r>
              <a:rPr dirty="0"/>
              <a:t> Last </a:t>
            </a:r>
            <a:r>
              <a:rPr dirty="0" err="1"/>
              <a:t>prüfen</a:t>
            </a:r>
            <a:r>
              <a:rPr dirty="0"/>
              <a:t>.</a:t>
            </a:r>
          </a:p>
          <a:p>
            <a:pPr>
              <a:spcAft>
                <a:spcPts val="600"/>
              </a:spcAft>
              <a:defRPr sz="1900">
                <a:solidFill>
                  <a:srgbClr val="000000"/>
                </a:solidFill>
                <a:latin typeface="Aptos"/>
              </a:defRPr>
            </a:pPr>
            <a:r>
              <a:rPr dirty="0"/>
              <a:t>Login </a:t>
            </a:r>
            <a:r>
              <a:rPr dirty="0" err="1"/>
              <a:t>passiert</a:t>
            </a:r>
            <a:r>
              <a:rPr dirty="0"/>
              <a:t> </a:t>
            </a:r>
            <a:r>
              <a:rPr dirty="0" err="1"/>
              <a:t>vorher</a:t>
            </a:r>
            <a:r>
              <a:rPr dirty="0"/>
              <a:t> per API, </a:t>
            </a:r>
            <a:r>
              <a:rPr dirty="0" err="1"/>
              <a:t>damit</a:t>
            </a:r>
            <a:r>
              <a:rPr dirty="0"/>
              <a:t> die Last </a:t>
            </a:r>
            <a:r>
              <a:rPr dirty="0" err="1"/>
              <a:t>hauptsächlich</a:t>
            </a:r>
            <a:r>
              <a:rPr dirty="0"/>
              <a:t> auf der </a:t>
            </a:r>
            <a:r>
              <a:rPr dirty="0" err="1"/>
              <a:t>Rezeptliste</a:t>
            </a:r>
            <a:r>
              <a:rPr dirty="0"/>
              <a:t> </a:t>
            </a:r>
            <a:r>
              <a:rPr dirty="0" err="1"/>
              <a:t>liegt</a:t>
            </a:r>
            <a:r>
              <a:rPr dirty="0"/>
              <a:t>.</a:t>
            </a:r>
          </a:p>
          <a:p>
            <a:pPr>
              <a:spcAft>
                <a:spcPts val="600"/>
              </a:spcAft>
              <a:defRPr sz="1900">
                <a:solidFill>
                  <a:srgbClr val="000000"/>
                </a:solidFill>
                <a:latin typeface="Aptos"/>
              </a:defRPr>
            </a:pPr>
            <a:r>
              <a:rPr dirty="0" err="1"/>
              <a:t>Gemessen</a:t>
            </a:r>
            <a:r>
              <a:rPr dirty="0"/>
              <a:t> </a:t>
            </a:r>
            <a:r>
              <a:rPr dirty="0" err="1"/>
              <a:t>wurden</a:t>
            </a:r>
            <a:r>
              <a:rPr dirty="0"/>
              <a:t> Dauer, </a:t>
            </a:r>
            <a:r>
              <a:rPr dirty="0" err="1"/>
              <a:t>Statuscodes</a:t>
            </a:r>
            <a:r>
              <a:rPr dirty="0"/>
              <a:t>, p95 und </a:t>
            </a:r>
            <a:r>
              <a:rPr dirty="0" err="1"/>
              <a:t>Fehleranzahl</a:t>
            </a:r>
            <a:r>
              <a:rPr dirty="0"/>
              <a:t>.</a:t>
            </a:r>
          </a:p>
          <a:p>
            <a:pPr>
              <a:spcAft>
                <a:spcPts val="600"/>
              </a:spcAft>
              <a:defRPr sz="1900">
                <a:solidFill>
                  <a:srgbClr val="000000"/>
                </a:solidFill>
                <a:latin typeface="Aptos"/>
              </a:defRPr>
            </a:pPr>
            <a:r>
              <a:rPr dirty="0"/>
              <a:t>Die </a:t>
            </a:r>
            <a:r>
              <a:rPr dirty="0" err="1"/>
              <a:t>Rezeptliste</a:t>
            </a:r>
            <a:r>
              <a:rPr dirty="0"/>
              <a:t> </a:t>
            </a:r>
            <a:r>
              <a:rPr dirty="0" err="1"/>
              <a:t>wurde</a:t>
            </a:r>
            <a:r>
              <a:rPr dirty="0"/>
              <a:t> </a:t>
            </a:r>
            <a:r>
              <a:rPr dirty="0" err="1"/>
              <a:t>gewählt</a:t>
            </a:r>
            <a:r>
              <a:rPr dirty="0"/>
              <a:t>, </a:t>
            </a:r>
            <a:r>
              <a:rPr dirty="0" err="1"/>
              <a:t>weil</a:t>
            </a:r>
            <a:r>
              <a:rPr dirty="0"/>
              <a:t> </a:t>
            </a:r>
            <a:r>
              <a:rPr dirty="0" err="1"/>
              <a:t>sie</a:t>
            </a:r>
            <a:r>
              <a:rPr dirty="0"/>
              <a:t> in </a:t>
            </a:r>
            <a:r>
              <a:rPr dirty="0" err="1"/>
              <a:t>einer</a:t>
            </a:r>
            <a:r>
              <a:rPr dirty="0"/>
              <a:t> </a:t>
            </a:r>
            <a:r>
              <a:rPr dirty="0" err="1"/>
              <a:t>Rezept</a:t>
            </a:r>
            <a:r>
              <a:rPr dirty="0"/>
              <a:t>-App </a:t>
            </a:r>
            <a:r>
              <a:rPr dirty="0" err="1"/>
              <a:t>sehr</a:t>
            </a:r>
            <a:r>
              <a:rPr dirty="0"/>
              <a:t> </a:t>
            </a:r>
            <a:r>
              <a:rPr dirty="0" err="1"/>
              <a:t>häufig</a:t>
            </a:r>
            <a:r>
              <a:rPr dirty="0"/>
              <a:t> </a:t>
            </a:r>
            <a:r>
              <a:rPr dirty="0" err="1"/>
              <a:t>aufgerufen</a:t>
            </a:r>
            <a:r>
              <a:rPr dirty="0"/>
              <a:t> </a:t>
            </a:r>
            <a:r>
              <a:rPr dirty="0" err="1"/>
              <a:t>wird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835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0">
                <a:solidFill>
                  <a:srgbClr val="000000"/>
                </a:solidFill>
                <a:latin typeface="Aptos"/>
              </a:defRPr>
            </a:pPr>
            <a:r>
              <a:t>Patrick – Load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43000"/>
            <a:ext cx="5669280" cy="1828800"/>
          </a:xfrm>
          <a:prstGeom prst="rect">
            <a:avLst/>
          </a:prstGeom>
          <a:solidFill>
            <a:srgbClr val="F5F5F5"/>
          </a:solidFill>
          <a:ln w="9525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9728" tIns="73152" rIns="109728" bIns="73152" rtlCol="0" anchor="ctr"/>
          <a:lstStyle/>
          <a:p>
            <a:pPr algn="ctr"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t>const LOAD_STAGES = [1, 5, 10, 15, 20, 15, 10, 5, 1];</a:t>
            </a:r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endParaRPr/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t>expect(result.errorCount).toBe(0);</a:t>
            </a:r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t>expect(result.durationMs).toBeLessThan(10000);</a:t>
            </a:r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endParaRPr/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t>expect(totalRequests).toBe(82);</a:t>
            </a:r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t>expect(successRate).toBe(100);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0" y="1143000"/>
          <a:ext cx="44805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Metrik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Ergebnis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Requests gesamt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82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Fehler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Erfolgsrate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100 %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Max. Stufendauer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2427 ms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657600"/>
            <a:ext cx="10835640" cy="2011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  <a:latin typeface="Aptos"/>
              </a:defRPr>
            </a:pPr>
            <a:r>
              <a:t>Warum Ramp-up?</a:t>
            </a:r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  <a:latin typeface="Aptos"/>
              </a:defRPr>
            </a:pPr>
            <a:r>
              <a:t>Man sieht, ob die Antwortzeit bei steigender Last sauber ansteigt.</a:t>
            </a:r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  <a:latin typeface="Aptos"/>
              </a:defRPr>
            </a:pPr>
            <a:r>
              <a:t>Danach wird wieder reduziert, um zu sehen, ob sich die App wieder normal verhält.</a:t>
            </a:r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  <a:latin typeface="Aptos"/>
              </a:defRPr>
            </a:pPr>
            <a:r>
              <a:t>Für das Projekt reicht das als einfacher Stabilitätstest.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835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0">
                <a:solidFill>
                  <a:srgbClr val="000000"/>
                </a:solidFill>
                <a:latin typeface="Aptos"/>
              </a:defRPr>
            </a:pPr>
            <a:r>
              <a:t>Lukas – Load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43000"/>
            <a:ext cx="6400800" cy="3108960"/>
          </a:xfrm>
          <a:prstGeom prst="rect">
            <a:avLst/>
          </a:prstGeom>
          <a:solidFill>
            <a:srgbClr val="F5F5F5"/>
          </a:solidFill>
          <a:ln w="9525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9728" tIns="73152" rIns="109728" bIns="73152" rtlCol="0" anchor="ctr"/>
          <a:lstStyle/>
          <a:p>
            <a:pPr algn="ctr">
              <a:spcAft>
                <a:spcPts val="0"/>
              </a:spcAft>
              <a:defRPr sz="1150">
                <a:solidFill>
                  <a:srgbClr val="000000"/>
                </a:solidFill>
                <a:latin typeface="Consolas"/>
              </a:defRPr>
            </a:pPr>
            <a:r>
              <a:t>const requestCount = 20;</a:t>
            </a:r>
          </a:p>
          <a:p>
            <a:pPr>
              <a:spcAft>
                <a:spcPts val="0"/>
              </a:spcAft>
              <a:defRPr sz="1150">
                <a:solidFill>
                  <a:srgbClr val="000000"/>
                </a:solidFill>
                <a:latin typeface="Consolas"/>
              </a:defRPr>
            </a:pPr>
            <a:endParaRPr/>
          </a:p>
          <a:p>
            <a:pPr>
              <a:spcAft>
                <a:spcPts val="0"/>
              </a:spcAft>
              <a:defRPr sz="1150">
                <a:solidFill>
                  <a:srgbClr val="000000"/>
                </a:solidFill>
                <a:latin typeface="Consolas"/>
              </a:defRPr>
            </a:pPr>
            <a:r>
              <a:t>const responses = await Promise.all(</a:t>
            </a:r>
          </a:p>
          <a:p>
            <a:pPr>
              <a:spcAft>
                <a:spcPts val="0"/>
              </a:spcAft>
              <a:defRPr sz="1150">
                <a:solidFill>
                  <a:srgbClr val="000000"/>
                </a:solidFill>
                <a:latin typeface="Consolas"/>
              </a:defRPr>
            </a:pPr>
            <a:r>
              <a:t>  Array.from({ length: requestCount }, async () =&gt; {</a:t>
            </a:r>
          </a:p>
          <a:p>
            <a:pPr>
              <a:spcAft>
                <a:spcPts val="0"/>
              </a:spcAft>
              <a:defRPr sz="1150">
                <a:solidFill>
                  <a:srgbClr val="000000"/>
                </a:solidFill>
                <a:latin typeface="Consolas"/>
              </a:defRPr>
            </a:pPr>
            <a:r>
              <a:t>    const startedAt = Date.now();</a:t>
            </a:r>
          </a:p>
          <a:p>
            <a:pPr>
              <a:spcAft>
                <a:spcPts val="0"/>
              </a:spcAft>
              <a:defRPr sz="1150">
                <a:solidFill>
                  <a:srgbClr val="000000"/>
                </a:solidFill>
                <a:latin typeface="Consolas"/>
              </a:defRPr>
            </a:pPr>
            <a:r>
              <a:t>    const response = await request.get(</a:t>
            </a:r>
          </a:p>
          <a:p>
            <a:pPr>
              <a:spcAft>
                <a:spcPts val="0"/>
              </a:spcAft>
              <a:defRPr sz="1150">
                <a:solidFill>
                  <a:srgbClr val="000000"/>
                </a:solidFill>
                <a:latin typeface="Consolas"/>
              </a:defRPr>
            </a:pPr>
            <a:r>
              <a:t>      '/api/recipes?page=1&amp;perPage=10',</a:t>
            </a:r>
          </a:p>
          <a:p>
            <a:pPr>
              <a:spcAft>
                <a:spcPts val="0"/>
              </a:spcAft>
              <a:defRPr sz="1150">
                <a:solidFill>
                  <a:srgbClr val="000000"/>
                </a:solidFill>
                <a:latin typeface="Consolas"/>
              </a:defRPr>
            </a:pPr>
            <a:r>
              <a:t>      { headers: { Authorization: `Bearer ${token}` } }</a:t>
            </a:r>
          </a:p>
          <a:p>
            <a:pPr>
              <a:spcAft>
                <a:spcPts val="0"/>
              </a:spcAft>
              <a:defRPr sz="1150">
                <a:solidFill>
                  <a:srgbClr val="000000"/>
                </a:solidFill>
                <a:latin typeface="Consolas"/>
              </a:defRPr>
            </a:pPr>
            <a:r>
              <a:t>    );</a:t>
            </a:r>
          </a:p>
          <a:p>
            <a:pPr>
              <a:spcAft>
                <a:spcPts val="0"/>
              </a:spcAft>
              <a:defRPr sz="1150">
                <a:solidFill>
                  <a:srgbClr val="000000"/>
                </a:solidFill>
                <a:latin typeface="Consolas"/>
              </a:defRPr>
            </a:pPr>
            <a:r>
              <a:t>    durations.push(Date.now() - startedAt);</a:t>
            </a:r>
          </a:p>
          <a:p>
            <a:pPr>
              <a:spcAft>
                <a:spcPts val="0"/>
              </a:spcAft>
              <a:defRPr sz="1150">
                <a:solidFill>
                  <a:srgbClr val="000000"/>
                </a:solidFill>
                <a:latin typeface="Consolas"/>
              </a:defRPr>
            </a:pPr>
            <a:r>
              <a:t>    return response;</a:t>
            </a:r>
          </a:p>
          <a:p>
            <a:pPr>
              <a:spcAft>
                <a:spcPts val="0"/>
              </a:spcAft>
              <a:defRPr sz="1150">
                <a:solidFill>
                  <a:srgbClr val="000000"/>
                </a:solidFill>
                <a:latin typeface="Consolas"/>
              </a:defRPr>
            </a:pPr>
            <a:r>
              <a:t>  })</a:t>
            </a:r>
          </a:p>
          <a:p>
            <a:pPr>
              <a:spcAft>
                <a:spcPts val="0"/>
              </a:spcAft>
              <a:defRPr sz="1150">
                <a:solidFill>
                  <a:srgbClr val="000000"/>
                </a:solidFill>
                <a:latin typeface="Consolas"/>
              </a:defRPr>
            </a:pPr>
            <a:r>
              <a:t>);</a:t>
            </a:r>
          </a:p>
          <a:p>
            <a:pPr>
              <a:spcAft>
                <a:spcPts val="0"/>
              </a:spcAft>
              <a:defRPr sz="1150">
                <a:solidFill>
                  <a:srgbClr val="000000"/>
                </a:solidFill>
                <a:latin typeface="Consolas"/>
              </a:defRPr>
            </a:pPr>
            <a:endParaRPr/>
          </a:p>
          <a:p>
            <a:pPr>
              <a:spcAft>
                <a:spcPts val="0"/>
              </a:spcAft>
              <a:defRPr sz="1150">
                <a:solidFill>
                  <a:srgbClr val="000000"/>
                </a:solidFill>
                <a:latin typeface="Consolas"/>
              </a:defRPr>
            </a:pPr>
            <a:r>
              <a:t>expect(p95).toBeLessThan(2000);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0" y="1143000"/>
          <a:ext cx="3749039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Metrik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Ergebnis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Parallele Requests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20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Durchschnitt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791 ms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p95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945 ms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Fehler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000000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45720" marR="45720" marT="36576" marB="3657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200899" y="3052204"/>
            <a:ext cx="3977639" cy="3063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  <a:latin typeface="Aptos"/>
              </a:defRPr>
            </a:pPr>
            <a:r>
              <a:rPr lang="de-DE" dirty="0"/>
              <a:t>Warum p95?</a:t>
            </a:r>
            <a:br>
              <a:rPr lang="de-DE" dirty="0"/>
            </a:br>
            <a:r>
              <a:rPr lang="de-DE" dirty="0"/>
              <a:t>- einzelne langsame </a:t>
            </a:r>
            <a:r>
              <a:rPr lang="de-DE" dirty="0" err="1"/>
              <a:t>Requests</a:t>
            </a:r>
            <a:r>
              <a:rPr lang="de-DE" dirty="0"/>
              <a:t> können übersehen werden</a:t>
            </a:r>
            <a:br>
              <a:rPr lang="de-DE" dirty="0"/>
            </a:br>
            <a:r>
              <a:rPr lang="de-DE" dirty="0"/>
              <a:t>- p95 zeigt die Antwortzeit der langsamsten 5 %</a:t>
            </a:r>
            <a:br>
              <a:rPr lang="de-DE" dirty="0"/>
            </a:br>
            <a:r>
              <a:rPr lang="de-DE" dirty="0"/>
              <a:t>- 95 % der </a:t>
            </a:r>
            <a:r>
              <a:rPr lang="de-DE" dirty="0" err="1"/>
              <a:t>Requests</a:t>
            </a:r>
            <a:r>
              <a:rPr lang="de-DE" dirty="0"/>
              <a:t> müssen unter dem Grenzwert bleiben</a:t>
            </a:r>
            <a:br>
              <a:rPr lang="de-DE" dirty="0"/>
            </a:br>
            <a:r>
              <a:rPr lang="de-DE" dirty="0"/>
              <a:t>- dadurch bessere Einschätzung der echten Performance</a:t>
            </a: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835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0">
                <a:solidFill>
                  <a:srgbClr val="000000"/>
                </a:solidFill>
                <a:latin typeface="Aptos"/>
              </a:defRPr>
            </a:pPr>
            <a:r>
              <a:t>Lokale Ausführung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43000"/>
            <a:ext cx="6492240" cy="3246120"/>
          </a:xfrm>
          <a:prstGeom prst="rect">
            <a:avLst/>
          </a:prstGeom>
          <a:solidFill>
            <a:srgbClr val="F5F5F5"/>
          </a:solidFill>
          <a:ln w="9525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9728" tIns="73152" rIns="109728" bIns="73152" rtlCol="0" anchor="ctr"/>
          <a:lstStyle/>
          <a:p>
            <a:pPr algn="ctr">
              <a:spcAft>
                <a:spcPts val="0"/>
              </a:spcAft>
              <a:defRPr sz="1250">
                <a:solidFill>
                  <a:srgbClr val="000000"/>
                </a:solidFill>
                <a:latin typeface="Consolas"/>
              </a:defRPr>
            </a:pPr>
            <a:r>
              <a:t># Anwendung frisch starten</a:t>
            </a:r>
          </a:p>
          <a:p>
            <a:pPr>
              <a:spcAft>
                <a:spcPts val="0"/>
              </a:spcAft>
              <a:defRPr sz="1250">
                <a:solidFill>
                  <a:srgbClr val="000000"/>
                </a:solidFill>
                <a:latin typeface="Consolas"/>
              </a:defRPr>
            </a:pPr>
            <a:r>
              <a:t>docker compose -f docker/docker-compose.yml \</a:t>
            </a:r>
          </a:p>
          <a:p>
            <a:pPr>
              <a:spcAft>
                <a:spcPts val="0"/>
              </a:spcAft>
              <a:defRPr sz="1250">
                <a:solidFill>
                  <a:srgbClr val="000000"/>
                </a:solidFill>
                <a:latin typeface="Consolas"/>
              </a:defRPr>
            </a:pPr>
            <a:r>
              <a:t>  -f docker/docker-compose.ci.yml up -d --build</a:t>
            </a:r>
          </a:p>
          <a:p>
            <a:pPr>
              <a:spcAft>
                <a:spcPts val="0"/>
              </a:spcAft>
              <a:defRPr sz="1250">
                <a:solidFill>
                  <a:srgbClr val="000000"/>
                </a:solidFill>
                <a:latin typeface="Consolas"/>
              </a:defRPr>
            </a:pPr>
            <a:endParaRPr/>
          </a:p>
          <a:p>
            <a:pPr>
              <a:spcAft>
                <a:spcPts val="0"/>
              </a:spcAft>
              <a:defRPr sz="1250">
                <a:solidFill>
                  <a:srgbClr val="000000"/>
                </a:solidFill>
                <a:latin typeface="Consolas"/>
              </a:defRPr>
            </a:pPr>
            <a:r>
              <a:t># Tests ausführen</a:t>
            </a:r>
          </a:p>
          <a:p>
            <a:pPr>
              <a:spcAft>
                <a:spcPts val="0"/>
              </a:spcAft>
              <a:defRPr sz="1250">
                <a:solidFill>
                  <a:srgbClr val="000000"/>
                </a:solidFill>
                <a:latin typeface="Consolas"/>
              </a:defRPr>
            </a:pPr>
            <a:r>
              <a:t>cd playwright-tests</a:t>
            </a:r>
          </a:p>
          <a:p>
            <a:pPr>
              <a:spcAft>
                <a:spcPts val="0"/>
              </a:spcAft>
              <a:defRPr sz="1250">
                <a:solidFill>
                  <a:srgbClr val="000000"/>
                </a:solidFill>
                <a:latin typeface="Consolas"/>
              </a:defRPr>
            </a:pPr>
            <a:r>
              <a:t>npm ci</a:t>
            </a:r>
          </a:p>
          <a:p>
            <a:pPr>
              <a:spcAft>
                <a:spcPts val="0"/>
              </a:spcAft>
              <a:defRPr sz="1250">
                <a:solidFill>
                  <a:srgbClr val="000000"/>
                </a:solidFill>
                <a:latin typeface="Consolas"/>
              </a:defRPr>
            </a:pPr>
            <a:r>
              <a:t>npx playwright install --with-deps chromium</a:t>
            </a:r>
          </a:p>
          <a:p>
            <a:pPr>
              <a:spcAft>
                <a:spcPts val="0"/>
              </a:spcAft>
              <a:defRPr sz="1250">
                <a:solidFill>
                  <a:srgbClr val="000000"/>
                </a:solidFill>
                <a:latin typeface="Consolas"/>
              </a:defRPr>
            </a:pPr>
            <a:r>
              <a:t>npx playwright test</a:t>
            </a:r>
          </a:p>
          <a:p>
            <a:pPr>
              <a:spcAft>
                <a:spcPts val="0"/>
              </a:spcAft>
              <a:defRPr sz="1250">
                <a:solidFill>
                  <a:srgbClr val="000000"/>
                </a:solidFill>
                <a:latin typeface="Consolas"/>
              </a:defRPr>
            </a:pPr>
            <a:endParaRPr/>
          </a:p>
          <a:p>
            <a:pPr>
              <a:spcAft>
                <a:spcPts val="0"/>
              </a:spcAft>
              <a:defRPr sz="1250">
                <a:solidFill>
                  <a:srgbClr val="000000"/>
                </a:solidFill>
                <a:latin typeface="Consolas"/>
              </a:defRPr>
            </a:pPr>
            <a:r>
              <a:t># Report öffnen</a:t>
            </a:r>
          </a:p>
          <a:p>
            <a:pPr>
              <a:spcAft>
                <a:spcPts val="0"/>
              </a:spcAft>
              <a:defRPr sz="1250">
                <a:solidFill>
                  <a:srgbClr val="000000"/>
                </a:solidFill>
                <a:latin typeface="Consolas"/>
              </a:defRPr>
            </a:pPr>
            <a:r>
              <a:t>npx playwright show-report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1143000"/>
            <a:ext cx="3840480" cy="2194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  <a:latin typeface="Aptos"/>
              </a:defRPr>
            </a:pPr>
            <a:r>
              <a:t>Letzter kompletter Lauf: 23 Tests passed.</a:t>
            </a:r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  <a:latin typeface="Aptos"/>
              </a:defRPr>
            </a:pPr>
            <a:r>
              <a:t>Für frische Läufe kann das Docker-Volume gelöscht werden.</a:t>
            </a:r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  <a:latin typeface="Aptos"/>
              </a:defRPr>
            </a:pPr>
            <a:r>
              <a:t>Der HTML-Report hilft, wenn ein Test in CI oder lokal fehlschlägt.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3703320"/>
            <a:ext cx="3840480" cy="685800"/>
          </a:xfrm>
          <a:prstGeom prst="rect">
            <a:avLst/>
          </a:prstGeom>
          <a:solidFill>
            <a:srgbClr val="F5F5F5"/>
          </a:solidFill>
          <a:ln w="9525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9728" tIns="73152" rIns="109728" bIns="73152" rtlCol="0" anchor="ctr"/>
          <a:lstStyle/>
          <a:p>
            <a:pPr algn="ctr">
              <a:spcAft>
                <a:spcPts val="0"/>
              </a:spcAft>
              <a:defRPr sz="1250">
                <a:solidFill>
                  <a:srgbClr val="000000"/>
                </a:solidFill>
                <a:latin typeface="Consolas"/>
              </a:defRPr>
            </a:pPr>
            <a:r>
              <a:t>docker compose -f docker/docker-compose.yml \</a:t>
            </a:r>
          </a:p>
          <a:p>
            <a:pPr>
              <a:spcAft>
                <a:spcPts val="0"/>
              </a:spcAft>
              <a:defRPr sz="1250">
                <a:solidFill>
                  <a:srgbClr val="000000"/>
                </a:solidFill>
                <a:latin typeface="Consolas"/>
              </a:defRPr>
            </a:pPr>
            <a:r>
              <a:t>  -f docker/docker-compose.ci.yml down -v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835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0">
                <a:solidFill>
                  <a:srgbClr val="000000"/>
                </a:solidFill>
                <a:latin typeface="Aptos"/>
              </a:defRPr>
            </a:pPr>
            <a:r>
              <a:t>CI/CD Pipeline – Überblick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43000"/>
            <a:ext cx="5166360" cy="2103120"/>
          </a:xfrm>
          <a:prstGeom prst="rect">
            <a:avLst/>
          </a:prstGeom>
          <a:solidFill>
            <a:srgbClr val="F5F5F5"/>
          </a:solidFill>
          <a:ln w="9525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9728" tIns="73152" rIns="109728" bIns="73152" rtlCol="0" anchor="ctr"/>
          <a:lstStyle/>
          <a:p>
            <a:pPr algn="ctr"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t>on:</a:t>
            </a:r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t>  push:</a:t>
            </a:r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t>    branches: [main]</a:t>
            </a:r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t>  pull_request:</a:t>
            </a:r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t>    branches: [main]</a:t>
            </a:r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t>  workflow_dispatch:</a:t>
            </a:r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endParaRPr/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t>jobs:</a:t>
            </a:r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t>  playwright:</a:t>
            </a:r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t>    runs-on: ubuntu-latest</a:t>
            </a:r>
          </a:p>
          <a:p>
            <a:pPr>
              <a:spcAft>
                <a:spcPts val="0"/>
              </a:spcAft>
              <a:defRPr sz="1300">
                <a:solidFill>
                  <a:srgbClr val="000000"/>
                </a:solidFill>
                <a:latin typeface="Consolas"/>
              </a:defRPr>
            </a:pPr>
            <a:r>
              <a:t>    timeout-minutes: 45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5080" y="1143000"/>
            <a:ext cx="5074920" cy="2103120"/>
          </a:xfrm>
          <a:prstGeom prst="rect">
            <a:avLst/>
          </a:prstGeom>
          <a:solidFill>
            <a:srgbClr val="F5F5F5"/>
          </a:solidFill>
          <a:ln w="9525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9728" tIns="73152" rIns="109728" bIns="73152" rtlCol="0" anchor="ctr"/>
          <a:lstStyle/>
          <a:p>
            <a:pPr algn="ctr">
              <a:spcAft>
                <a:spcPts val="0"/>
              </a:spcAft>
              <a:defRPr sz="1250">
                <a:solidFill>
                  <a:srgbClr val="000000"/>
                </a:solidFill>
                <a:latin typeface="Consolas"/>
              </a:defRPr>
            </a:pPr>
            <a:r>
              <a:t>- name: Start Mealie with Docker Compose</a:t>
            </a:r>
          </a:p>
          <a:p>
            <a:pPr>
              <a:spcAft>
                <a:spcPts val="0"/>
              </a:spcAft>
              <a:defRPr sz="1250">
                <a:solidFill>
                  <a:srgbClr val="000000"/>
                </a:solidFill>
                <a:latin typeface="Consolas"/>
              </a:defRPr>
            </a:pPr>
            <a:r>
              <a:t>  run: docker compose -f docker/docker-compose.yml \</a:t>
            </a:r>
          </a:p>
          <a:p>
            <a:pPr>
              <a:spcAft>
                <a:spcPts val="0"/>
              </a:spcAft>
              <a:defRPr sz="1250">
                <a:solidFill>
                  <a:srgbClr val="000000"/>
                </a:solidFill>
                <a:latin typeface="Consolas"/>
              </a:defRPr>
            </a:pPr>
            <a:r>
              <a:t>    -f docker/docker-compose.ci.yml up -d --build</a:t>
            </a:r>
          </a:p>
          <a:p>
            <a:pPr>
              <a:spcAft>
                <a:spcPts val="0"/>
              </a:spcAft>
              <a:defRPr sz="1250">
                <a:solidFill>
                  <a:srgbClr val="000000"/>
                </a:solidFill>
                <a:latin typeface="Consolas"/>
              </a:defRPr>
            </a:pPr>
            <a:endParaRPr/>
          </a:p>
          <a:p>
            <a:pPr>
              <a:spcAft>
                <a:spcPts val="0"/>
              </a:spcAft>
              <a:defRPr sz="1250">
                <a:solidFill>
                  <a:srgbClr val="000000"/>
                </a:solidFill>
                <a:latin typeface="Consolas"/>
              </a:defRPr>
            </a:pPr>
            <a:r>
              <a:t>- name: Run Playwright tests</a:t>
            </a:r>
          </a:p>
          <a:p>
            <a:pPr>
              <a:spcAft>
                <a:spcPts val="0"/>
              </a:spcAft>
              <a:defRPr sz="1250">
                <a:solidFill>
                  <a:srgbClr val="000000"/>
                </a:solidFill>
                <a:latin typeface="Consolas"/>
              </a:defRPr>
            </a:pPr>
            <a:r>
              <a:t>  working-directory: playwright-tests</a:t>
            </a:r>
          </a:p>
          <a:p>
            <a:pPr>
              <a:spcAft>
                <a:spcPts val="0"/>
              </a:spcAft>
              <a:defRPr sz="1250">
                <a:solidFill>
                  <a:srgbClr val="000000"/>
                </a:solidFill>
                <a:latin typeface="Consolas"/>
              </a:defRPr>
            </a:pPr>
            <a:r>
              <a:t>  run: npx playwright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657600"/>
            <a:ext cx="10835640" cy="2011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  <a:latin typeface="Aptos"/>
              </a:defRPr>
            </a:pPr>
            <a:r>
              <a:rPr dirty="0"/>
              <a:t>Die Pipeline </a:t>
            </a:r>
            <a:r>
              <a:rPr dirty="0" err="1"/>
              <a:t>startet</a:t>
            </a:r>
            <a:r>
              <a:rPr dirty="0"/>
              <a:t> </a:t>
            </a:r>
            <a:r>
              <a:rPr dirty="0" err="1"/>
              <a:t>bei</a:t>
            </a:r>
            <a:r>
              <a:rPr dirty="0"/>
              <a:t> Push und Pull Request auf main.</a:t>
            </a:r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  <a:latin typeface="Aptos"/>
              </a:defRPr>
            </a:pPr>
            <a:r>
              <a:rPr dirty="0" err="1"/>
              <a:t>Ablauf</a:t>
            </a:r>
            <a:r>
              <a:rPr dirty="0"/>
              <a:t>: Checkout → Node → Docker Compose → Health Check → </a:t>
            </a:r>
            <a:r>
              <a:rPr dirty="0" err="1"/>
              <a:t>Testuser</a:t>
            </a:r>
            <a:r>
              <a:rPr dirty="0"/>
              <a:t> → Playwright → Report → Cleanup.</a:t>
            </a:r>
          </a:p>
          <a:p>
            <a:pPr>
              <a:spcAft>
                <a:spcPts val="600"/>
              </a:spcAft>
              <a:defRPr sz="1800">
                <a:solidFill>
                  <a:srgbClr val="000000"/>
                </a:solidFill>
                <a:latin typeface="Aptos"/>
              </a:defRPr>
            </a:pPr>
            <a:r>
              <a:rPr dirty="0" err="1"/>
              <a:t>Damit</a:t>
            </a:r>
            <a:r>
              <a:rPr dirty="0"/>
              <a:t> </a:t>
            </a:r>
            <a:r>
              <a:rPr dirty="0" err="1"/>
              <a:t>sieht</a:t>
            </a:r>
            <a:r>
              <a:rPr dirty="0"/>
              <a:t> man </a:t>
            </a:r>
            <a:r>
              <a:rPr dirty="0" err="1"/>
              <a:t>früh</a:t>
            </a:r>
            <a:r>
              <a:rPr dirty="0"/>
              <a:t>, </a:t>
            </a:r>
            <a:r>
              <a:rPr dirty="0" err="1"/>
              <a:t>ob</a:t>
            </a:r>
            <a:r>
              <a:rPr dirty="0"/>
              <a:t> Tests </a:t>
            </a:r>
            <a:r>
              <a:rPr dirty="0" err="1"/>
              <a:t>nur</a:t>
            </a:r>
            <a:r>
              <a:rPr dirty="0"/>
              <a:t> </a:t>
            </a:r>
            <a:r>
              <a:rPr dirty="0" err="1"/>
              <a:t>lokal</a:t>
            </a:r>
            <a:r>
              <a:rPr dirty="0"/>
              <a:t> </a:t>
            </a:r>
            <a:r>
              <a:rPr dirty="0" err="1"/>
              <a:t>oder</a:t>
            </a:r>
            <a:r>
              <a:rPr dirty="0"/>
              <a:t> </a:t>
            </a:r>
            <a:r>
              <a:rPr dirty="0" err="1"/>
              <a:t>auch</a:t>
            </a:r>
            <a:r>
              <a:rPr dirty="0"/>
              <a:t> in </a:t>
            </a:r>
            <a:r>
              <a:rPr dirty="0" err="1"/>
              <a:t>einer</a:t>
            </a:r>
            <a:r>
              <a:rPr dirty="0"/>
              <a:t> </a:t>
            </a:r>
            <a:r>
              <a:rPr dirty="0" err="1"/>
              <a:t>frischen</a:t>
            </a:r>
            <a:r>
              <a:rPr dirty="0"/>
              <a:t> </a:t>
            </a:r>
            <a:r>
              <a:rPr dirty="0" err="1"/>
              <a:t>Umgebung</a:t>
            </a:r>
            <a:r>
              <a:rPr dirty="0"/>
              <a:t> </a:t>
            </a:r>
            <a:r>
              <a:rPr dirty="0" err="1"/>
              <a:t>funktionieren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7204473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0">
                <a:solidFill>
                  <a:srgbClr val="000000"/>
                </a:solidFill>
                <a:latin typeface="Aptos"/>
              </a:defRPr>
            </a:pPr>
            <a:r>
              <a:rPr dirty="0"/>
              <a:t>CI/CD – </a:t>
            </a:r>
            <a:r>
              <a:rPr lang="de-DE" dirty="0"/>
              <a:t>Konfiguration Docker und Testuser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475593" y="1257300"/>
            <a:ext cx="5440680" cy="2743200"/>
          </a:xfrm>
          <a:prstGeom prst="rect">
            <a:avLst/>
          </a:prstGeom>
          <a:solidFill>
            <a:srgbClr val="F5F5F5"/>
          </a:solidFill>
          <a:ln w="9525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9728" tIns="73152" rIns="109728" bIns="73152" rtlCol="0" anchor="ctr"/>
          <a:lstStyle/>
          <a:p>
            <a:pPr algn="ctr"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- name: Wait for Mealie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  run: |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    for i in {1..90}; do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      if curl -fsS http://localhost:9091 &gt;/dev/null; then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        exit 0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      fi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      sleep 2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    done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    docker compose -f docker/docker-compose.yml \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      -f docker/docker-compose.ci.yml logs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    exit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6080760" y="1143000"/>
            <a:ext cx="5303520" cy="2971800"/>
          </a:xfrm>
          <a:prstGeom prst="rect">
            <a:avLst/>
          </a:prstGeom>
          <a:solidFill>
            <a:srgbClr val="F5F5F5"/>
          </a:solidFill>
          <a:ln w="9525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9728" tIns="73152" rIns="109728" bIns="73152" rtlCol="0" anchor="ctr"/>
          <a:lstStyle/>
          <a:p>
            <a:pPr algn="ctr">
              <a:spcAft>
                <a:spcPts val="0"/>
              </a:spcAft>
              <a:defRPr sz="950">
                <a:solidFill>
                  <a:srgbClr val="000000"/>
                </a:solidFill>
                <a:latin typeface="Consolas"/>
              </a:defRPr>
            </a:pPr>
            <a:r>
              <a:t>- name: Create Playwright test user</a:t>
            </a:r>
          </a:p>
          <a:p>
            <a:pPr>
              <a:spcAft>
                <a:spcPts val="0"/>
              </a:spcAft>
              <a:defRPr sz="950">
                <a:solidFill>
                  <a:srgbClr val="000000"/>
                </a:solidFill>
                <a:latin typeface="Consolas"/>
              </a:defRPr>
            </a:pPr>
            <a:r>
              <a:t>  run: |</a:t>
            </a:r>
          </a:p>
          <a:p>
            <a:pPr>
              <a:spcAft>
                <a:spcPts val="0"/>
              </a:spcAft>
              <a:defRPr sz="950">
                <a:solidFill>
                  <a:srgbClr val="000000"/>
                </a:solidFill>
                <a:latin typeface="Consolas"/>
              </a:defRPr>
            </a:pPr>
            <a:r>
              <a:t>    admin_token=$(curl -sS -X POST \</a:t>
            </a:r>
          </a:p>
          <a:p>
            <a:pPr>
              <a:spcAft>
                <a:spcPts val="0"/>
              </a:spcAft>
              <a:defRPr sz="950">
                <a:solidFill>
                  <a:srgbClr val="000000"/>
                </a:solidFill>
                <a:latin typeface="Consolas"/>
              </a:defRPr>
            </a:pPr>
            <a:r>
              <a:t>      http://localhost:9091/api/auth/token \</a:t>
            </a:r>
          </a:p>
          <a:p>
            <a:pPr>
              <a:spcAft>
                <a:spcPts val="0"/>
              </a:spcAft>
              <a:defRPr sz="950">
                <a:solidFill>
                  <a:srgbClr val="000000"/>
                </a:solidFill>
                <a:latin typeface="Consolas"/>
              </a:defRPr>
            </a:pPr>
            <a:r>
              <a:t>      --data "username=changeme@example.com&amp;password=MyPassword" \</a:t>
            </a:r>
          </a:p>
          <a:p>
            <a:pPr>
              <a:spcAft>
                <a:spcPts val="0"/>
              </a:spcAft>
              <a:defRPr sz="950">
                <a:solidFill>
                  <a:srgbClr val="000000"/>
                </a:solidFill>
                <a:latin typeface="Consolas"/>
              </a:defRPr>
            </a:pPr>
            <a:r>
              <a:t>      | python3 -c "import json, sys; print(json.load(sys.stdin)['access_token'])")</a:t>
            </a:r>
          </a:p>
          <a:p>
            <a:pPr>
              <a:spcAft>
                <a:spcPts val="0"/>
              </a:spcAft>
              <a:defRPr sz="950">
                <a:solidFill>
                  <a:srgbClr val="000000"/>
                </a:solidFill>
                <a:latin typeface="Consolas"/>
              </a:defRPr>
            </a:pPr>
            <a:endParaRPr/>
          </a:p>
          <a:p>
            <a:pPr>
              <a:spcAft>
                <a:spcPts val="0"/>
              </a:spcAft>
              <a:defRPr sz="950">
                <a:solidFill>
                  <a:srgbClr val="000000"/>
                </a:solidFill>
                <a:latin typeface="Consolas"/>
              </a:defRPr>
            </a:pPr>
            <a:r>
              <a:t>    curl -X POST http://localhost:9091/api/admin/users \</a:t>
            </a:r>
          </a:p>
          <a:p>
            <a:pPr>
              <a:spcAft>
                <a:spcPts val="0"/>
              </a:spcAft>
              <a:defRPr sz="950">
                <a:solidFill>
                  <a:srgbClr val="000000"/>
                </a:solidFill>
                <a:latin typeface="Consolas"/>
              </a:defRPr>
            </a:pPr>
            <a:r>
              <a:t>      -H "Authorization: Bearer ${admin_token}" \</a:t>
            </a:r>
          </a:p>
          <a:p>
            <a:pPr>
              <a:spcAft>
                <a:spcPts val="0"/>
              </a:spcAft>
              <a:defRPr sz="950">
                <a:solidFill>
                  <a:srgbClr val="000000"/>
                </a:solidFill>
                <a:latin typeface="Consolas"/>
              </a:defRPr>
            </a:pPr>
            <a:r>
              <a:t>      --data '{"email":"test@example.com","password":"Test1234!"}'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74920"/>
            <a:ext cx="1083564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  <a:latin typeface="Aptos"/>
              </a:defRPr>
            </a:pPr>
            <a:r>
              <a:rPr dirty="0"/>
              <a:t>Tests </a:t>
            </a:r>
            <a:r>
              <a:rPr dirty="0" err="1"/>
              <a:t>starten</a:t>
            </a:r>
            <a:r>
              <a:rPr dirty="0"/>
              <a:t> erst, </a:t>
            </a:r>
            <a:r>
              <a:rPr dirty="0" err="1"/>
              <a:t>wenn</a:t>
            </a:r>
            <a:r>
              <a:rPr dirty="0"/>
              <a:t> die App </a:t>
            </a:r>
            <a:r>
              <a:rPr dirty="0" err="1"/>
              <a:t>erreichbar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.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  <a:latin typeface="Aptos"/>
              </a:defRPr>
            </a:pPr>
            <a:r>
              <a:rPr dirty="0" err="1"/>
              <a:t>Testuser</a:t>
            </a:r>
            <a:r>
              <a:rPr lang="de-DE" dirty="0"/>
              <a:t> wird angelegt</a:t>
            </a:r>
            <a:endParaRPr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835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0">
                <a:solidFill>
                  <a:srgbClr val="000000"/>
                </a:solidFill>
                <a:latin typeface="Aptos"/>
              </a:defRPr>
            </a:pPr>
            <a:r>
              <a:t>CI/CD – Installation, Report, Cleanup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43000"/>
            <a:ext cx="6400800" cy="4206240"/>
          </a:xfrm>
          <a:prstGeom prst="rect">
            <a:avLst/>
          </a:prstGeom>
          <a:solidFill>
            <a:srgbClr val="F5F5F5"/>
          </a:solidFill>
          <a:ln w="9525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9728" tIns="73152" rIns="109728" bIns="73152" rtlCol="0" anchor="ctr"/>
          <a:lstStyle/>
          <a:p>
            <a:pPr algn="ctr">
              <a:spcAft>
                <a:spcPts val="0"/>
              </a:spcAft>
              <a:defRPr sz="1050">
                <a:solidFill>
                  <a:srgbClr val="000000"/>
                </a:solidFill>
                <a:latin typeface="Consolas"/>
              </a:defRPr>
            </a:pPr>
            <a:r>
              <a:t>- name: Install Playwright test dependencies</a:t>
            </a:r>
          </a:p>
          <a:p>
            <a:pPr>
              <a:spcAft>
                <a:spcPts val="0"/>
              </a:spcAft>
              <a:defRPr sz="1050">
                <a:solidFill>
                  <a:srgbClr val="000000"/>
                </a:solidFill>
                <a:latin typeface="Consolas"/>
              </a:defRPr>
            </a:pPr>
            <a:r>
              <a:t>  working-directory: playwright-tests</a:t>
            </a:r>
          </a:p>
          <a:p>
            <a:pPr>
              <a:spcAft>
                <a:spcPts val="0"/>
              </a:spcAft>
              <a:defRPr sz="1050">
                <a:solidFill>
                  <a:srgbClr val="000000"/>
                </a:solidFill>
                <a:latin typeface="Consolas"/>
              </a:defRPr>
            </a:pPr>
            <a:r>
              <a:t>  run: npm ci</a:t>
            </a:r>
          </a:p>
          <a:p>
            <a:pPr>
              <a:spcAft>
                <a:spcPts val="0"/>
              </a:spcAft>
              <a:defRPr sz="1050">
                <a:solidFill>
                  <a:srgbClr val="000000"/>
                </a:solidFill>
                <a:latin typeface="Consolas"/>
              </a:defRPr>
            </a:pPr>
            <a:endParaRPr/>
          </a:p>
          <a:p>
            <a:pPr>
              <a:spcAft>
                <a:spcPts val="0"/>
              </a:spcAft>
              <a:defRPr sz="1050">
                <a:solidFill>
                  <a:srgbClr val="000000"/>
                </a:solidFill>
                <a:latin typeface="Consolas"/>
              </a:defRPr>
            </a:pPr>
            <a:r>
              <a:t>- name: Install Chromium</a:t>
            </a:r>
          </a:p>
          <a:p>
            <a:pPr>
              <a:spcAft>
                <a:spcPts val="0"/>
              </a:spcAft>
              <a:defRPr sz="1050">
                <a:solidFill>
                  <a:srgbClr val="000000"/>
                </a:solidFill>
                <a:latin typeface="Consolas"/>
              </a:defRPr>
            </a:pPr>
            <a:r>
              <a:t>  working-directory: playwright-tests</a:t>
            </a:r>
          </a:p>
          <a:p>
            <a:pPr>
              <a:spcAft>
                <a:spcPts val="0"/>
              </a:spcAft>
              <a:defRPr sz="1050">
                <a:solidFill>
                  <a:srgbClr val="000000"/>
                </a:solidFill>
                <a:latin typeface="Consolas"/>
              </a:defRPr>
            </a:pPr>
            <a:r>
              <a:t>  run: npx playwright install --with-deps chromium</a:t>
            </a:r>
          </a:p>
          <a:p>
            <a:pPr>
              <a:spcAft>
                <a:spcPts val="0"/>
              </a:spcAft>
              <a:defRPr sz="1050">
                <a:solidFill>
                  <a:srgbClr val="000000"/>
                </a:solidFill>
                <a:latin typeface="Consolas"/>
              </a:defRPr>
            </a:pPr>
            <a:endParaRPr/>
          </a:p>
          <a:p>
            <a:pPr>
              <a:spcAft>
                <a:spcPts val="0"/>
              </a:spcAft>
              <a:defRPr sz="1050">
                <a:solidFill>
                  <a:srgbClr val="000000"/>
                </a:solidFill>
                <a:latin typeface="Consolas"/>
              </a:defRPr>
            </a:pPr>
            <a:r>
              <a:t>- name: Upload Playwright report</a:t>
            </a:r>
          </a:p>
          <a:p>
            <a:pPr>
              <a:spcAft>
                <a:spcPts val="0"/>
              </a:spcAft>
              <a:defRPr sz="1050">
                <a:solidFill>
                  <a:srgbClr val="000000"/>
                </a:solidFill>
                <a:latin typeface="Consolas"/>
              </a:defRPr>
            </a:pPr>
            <a:r>
              <a:t>  if: always()</a:t>
            </a:r>
          </a:p>
          <a:p>
            <a:pPr>
              <a:spcAft>
                <a:spcPts val="0"/>
              </a:spcAft>
              <a:defRPr sz="1050">
                <a:solidFill>
                  <a:srgbClr val="000000"/>
                </a:solidFill>
                <a:latin typeface="Consolas"/>
              </a:defRPr>
            </a:pPr>
            <a:r>
              <a:t>  uses: actions/upload-artifact@v4</a:t>
            </a:r>
          </a:p>
          <a:p>
            <a:pPr>
              <a:spcAft>
                <a:spcPts val="0"/>
              </a:spcAft>
              <a:defRPr sz="1050">
                <a:solidFill>
                  <a:srgbClr val="000000"/>
                </a:solidFill>
                <a:latin typeface="Consolas"/>
              </a:defRPr>
            </a:pPr>
            <a:r>
              <a:t>  with:</a:t>
            </a:r>
          </a:p>
          <a:p>
            <a:pPr>
              <a:spcAft>
                <a:spcPts val="0"/>
              </a:spcAft>
              <a:defRPr sz="1050">
                <a:solidFill>
                  <a:srgbClr val="000000"/>
                </a:solidFill>
                <a:latin typeface="Consolas"/>
              </a:defRPr>
            </a:pPr>
            <a:r>
              <a:t>    name: playwright-report</a:t>
            </a:r>
          </a:p>
          <a:p>
            <a:pPr>
              <a:spcAft>
                <a:spcPts val="0"/>
              </a:spcAft>
              <a:defRPr sz="1050">
                <a:solidFill>
                  <a:srgbClr val="000000"/>
                </a:solidFill>
                <a:latin typeface="Consolas"/>
              </a:defRPr>
            </a:pPr>
            <a:r>
              <a:t>    path: playwright-tests/playwright-report/</a:t>
            </a:r>
          </a:p>
          <a:p>
            <a:pPr>
              <a:spcAft>
                <a:spcPts val="0"/>
              </a:spcAft>
              <a:defRPr sz="1050">
                <a:solidFill>
                  <a:srgbClr val="000000"/>
                </a:solidFill>
                <a:latin typeface="Consolas"/>
              </a:defRPr>
            </a:pPr>
            <a:endParaRPr/>
          </a:p>
          <a:p>
            <a:pPr>
              <a:spcAft>
                <a:spcPts val="0"/>
              </a:spcAft>
              <a:defRPr sz="1050">
                <a:solidFill>
                  <a:srgbClr val="000000"/>
                </a:solidFill>
                <a:latin typeface="Consolas"/>
              </a:defRPr>
            </a:pPr>
            <a:r>
              <a:t>- name: Stop Docker Compose</a:t>
            </a:r>
          </a:p>
          <a:p>
            <a:pPr>
              <a:spcAft>
                <a:spcPts val="0"/>
              </a:spcAft>
              <a:defRPr sz="1050">
                <a:solidFill>
                  <a:srgbClr val="000000"/>
                </a:solidFill>
                <a:latin typeface="Consolas"/>
              </a:defRPr>
            </a:pPr>
            <a:r>
              <a:t>  if: always()</a:t>
            </a:r>
          </a:p>
          <a:p>
            <a:pPr>
              <a:spcAft>
                <a:spcPts val="0"/>
              </a:spcAft>
              <a:defRPr sz="1050">
                <a:solidFill>
                  <a:srgbClr val="000000"/>
                </a:solidFill>
                <a:latin typeface="Consolas"/>
              </a:defRPr>
            </a:pPr>
            <a:r>
              <a:t>  run: docker compose -f docker/docker-compose.yml \</a:t>
            </a:r>
          </a:p>
          <a:p>
            <a:pPr>
              <a:spcAft>
                <a:spcPts val="0"/>
              </a:spcAft>
              <a:defRPr sz="1050">
                <a:solidFill>
                  <a:srgbClr val="000000"/>
                </a:solidFill>
                <a:latin typeface="Consolas"/>
              </a:defRPr>
            </a:pPr>
            <a:r>
              <a:t>    -f docker/docker-compose.ci.yml down -v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1143000"/>
            <a:ext cx="4114800" cy="3291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  <a:latin typeface="Aptos"/>
              </a:defRPr>
            </a:pPr>
            <a:r>
              <a:t>npm ci nutzt die exakten Versionen aus package-lock.json.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  <a:latin typeface="Aptos"/>
              </a:defRPr>
            </a:pPr>
            <a:r>
              <a:t>Chromium wird explizit installiert, weil nur dieser Browser getestet wird.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  <a:latin typeface="Aptos"/>
              </a:defRPr>
            </a:pPr>
            <a:r>
              <a:t>Reports werden auch bei Fehlern hochgeladen.</a:t>
            </a:r>
          </a:p>
          <a:p>
            <a:pPr>
              <a:spcAft>
                <a:spcPts val="600"/>
              </a:spcAft>
              <a:defRPr sz="1700">
                <a:solidFill>
                  <a:srgbClr val="000000"/>
                </a:solidFill>
                <a:latin typeface="Aptos"/>
              </a:defRPr>
            </a:pPr>
            <a:r>
              <a:t>Cleanup mit down -v entfernt Container und Testdaten.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835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0">
                <a:solidFill>
                  <a:srgbClr val="000000"/>
                </a:solidFill>
                <a:latin typeface="Aptos"/>
              </a:defRPr>
            </a:pPr>
            <a:r>
              <a:t>Fazit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835640" cy="5303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  <a:defRPr sz="2100">
                <a:solidFill>
                  <a:srgbClr val="000000"/>
                </a:solidFill>
                <a:latin typeface="Aptos"/>
              </a:defRPr>
            </a:pPr>
            <a:br>
              <a:rPr lang="de-DE" dirty="0"/>
            </a:br>
            <a:r>
              <a:rPr lang="de-DE" dirty="0"/>
              <a:t>- Die wichtigsten Kernfunktionen von </a:t>
            </a:r>
            <a:r>
              <a:rPr lang="de-DE" dirty="0" err="1"/>
              <a:t>Mealie</a:t>
            </a:r>
            <a:r>
              <a:rPr lang="de-DE" dirty="0"/>
              <a:t> konnten erfolgreich automatisiert getestet werden</a:t>
            </a:r>
          </a:p>
          <a:p>
            <a:pPr>
              <a:spcAft>
                <a:spcPts val="600"/>
              </a:spcAft>
              <a:defRPr sz="2100">
                <a:solidFill>
                  <a:srgbClr val="000000"/>
                </a:solidFill>
                <a:latin typeface="Aptos"/>
              </a:defRPr>
            </a:pPr>
            <a:br>
              <a:rPr lang="de-DE" dirty="0"/>
            </a:br>
            <a:r>
              <a:rPr lang="de-DE" dirty="0"/>
              <a:t>- Login, API-Zugriff, Rezeptanlage und Suche wurden durch die Tests zuverlässig abgedeckt</a:t>
            </a:r>
            <a:br>
              <a:rPr lang="de-DE" dirty="0"/>
            </a:br>
            <a:r>
              <a:rPr lang="de-DE" dirty="0"/>
              <a:t>- Die Tests zeigen, dass die Anwendung im getesteten Umfang stabil funktioniert</a:t>
            </a:r>
            <a:br>
              <a:rPr lang="de-DE" dirty="0"/>
            </a:br>
            <a:br>
              <a:rPr lang="de-DE" dirty="0"/>
            </a:br>
            <a:r>
              <a:rPr lang="de-DE" dirty="0"/>
              <a:t>- Besonders hilfreich waren die Integration Tests:</a:t>
            </a:r>
            <a:br>
              <a:rPr lang="de-DE" dirty="0"/>
            </a:br>
            <a:r>
              <a:rPr lang="de-DE" dirty="0"/>
              <a:t>Fehler bei Authentifizierung, Token und Datenzugriff wären schnell sichtbar geworden</a:t>
            </a:r>
            <a:br>
              <a:rPr lang="de-DE" dirty="0"/>
            </a:br>
            <a:br>
              <a:rPr lang="de-DE" dirty="0"/>
            </a:br>
            <a:r>
              <a:rPr lang="de-DE" dirty="0"/>
              <a:t>- Der Load Test hat gezeigt, dass die Rezeptliste bei parallelen </a:t>
            </a:r>
            <a:r>
              <a:rPr lang="de-DE" dirty="0" err="1"/>
              <a:t>Requests</a:t>
            </a:r>
            <a:r>
              <a:rPr lang="de-DE" dirty="0"/>
              <a:t> stabil bleibt</a:t>
            </a:r>
            <a:br>
              <a:rPr lang="de-DE" dirty="0"/>
            </a:br>
            <a:r>
              <a:rPr lang="de-DE" dirty="0"/>
              <a:t>und innerhalb des gesetzten Grenzwerts antwortet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gment">
  <a:themeElements>
    <a:clrScheme name="Segment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egment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egment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0</TotalTime>
  <Words>2337</Words>
  <Application>Microsoft Office PowerPoint</Application>
  <PresentationFormat>Breitbild</PresentationFormat>
  <Paragraphs>387</Paragraphs>
  <Slides>20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20</vt:i4>
      </vt:variant>
    </vt:vector>
  </HeadingPairs>
  <TitlesOfParts>
    <vt:vector size="23" baseType="lpstr">
      <vt:lpstr>Century Gothic</vt:lpstr>
      <vt:lpstr>Wingdings 3</vt:lpstr>
      <vt:lpstr>Segment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Berghofer Lukas - s2410307056</cp:lastModifiedBy>
  <cp:revision>13</cp:revision>
  <dcterms:created xsi:type="dcterms:W3CDTF">2013-01-27T09:14:16Z</dcterms:created>
  <dcterms:modified xsi:type="dcterms:W3CDTF">2026-06-24T13:33:18Z</dcterms:modified>
  <cp:category/>
</cp:coreProperties>
</file>